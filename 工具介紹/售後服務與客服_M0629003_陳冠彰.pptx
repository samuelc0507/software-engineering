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8" r:id="rId3"/>
    <p:sldId id="261" r:id="rId4"/>
    <p:sldId id="259" r:id="rId5"/>
    <p:sldId id="266" r:id="rId6"/>
    <p:sldId id="264" r:id="rId7"/>
    <p:sldId id="265" r:id="rId8"/>
    <p:sldId id="274" r:id="rId9"/>
    <p:sldId id="275" r:id="rId10"/>
    <p:sldId id="276" r:id="rId11"/>
    <p:sldId id="277" r:id="rId12"/>
    <p:sldId id="268" r:id="rId13"/>
    <p:sldId id="269" r:id="rId14"/>
    <p:sldId id="270" r:id="rId15"/>
    <p:sldId id="271" r:id="rId16"/>
    <p:sldId id="272" r:id="rId17"/>
    <p:sldId id="273" r:id="rId18"/>
    <p:sldId id="278" r:id="rId19"/>
    <p:sldId id="279" r:id="rId20"/>
    <p:sldId id="280" r:id="rId21"/>
    <p:sldId id="281" r:id="rId22"/>
    <p:sldId id="282" r:id="rId23"/>
    <p:sldId id="283" r:id="rId24"/>
    <p:sldId id="284" r:id="rId25"/>
  </p:sldIdLst>
  <p:sldSz cx="12192000" cy="6858000"/>
  <p:notesSz cx="9918700" cy="67945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2396" autoAdjust="0"/>
  </p:normalViewPr>
  <p:slideViewPr>
    <p:cSldViewPr snapToGrid="0">
      <p:cViewPr varScale="1">
        <p:scale>
          <a:sx n="107" d="100"/>
          <a:sy n="107" d="100"/>
        </p:scale>
        <p:origin x="4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298877" cy="34037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5617507" y="0"/>
            <a:ext cx="4298877" cy="34037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6552A-1002-4476-8CFA-F675C8AA2B93}" type="datetimeFigureOut">
              <a:rPr lang="zh-TW" altLang="en-US" smtClean="0"/>
              <a:t>2018/4/18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1" y="6454123"/>
            <a:ext cx="4298877" cy="340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5617507" y="6454123"/>
            <a:ext cx="4298877" cy="340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D62431-376C-455D-A319-0AA4DBC3BF2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11397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298103" cy="3409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5618303" y="0"/>
            <a:ext cx="4298103" cy="3409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D800B56E-7168-4C6A-9733-BA4BED8E03A4}" type="datetimeFigureOut">
              <a:rPr lang="zh-TW" altLang="en-US" smtClean="0"/>
              <a:pPr/>
              <a:t>2018/4/18</a:t>
            </a:fld>
            <a:endParaRPr lang="zh-TW" altLang="en-US" dirty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921000" y="849313"/>
            <a:ext cx="407670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 dirty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991870" y="3269853"/>
            <a:ext cx="7934960" cy="267533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6453596"/>
            <a:ext cx="4298103" cy="3409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5618303" y="6453596"/>
            <a:ext cx="4298103" cy="3409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DEF782D4-CC15-48F2-AB7F-1CD292595F12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9201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UML</a:t>
            </a:r>
            <a:r>
              <a:rPr lang="zh-TW" altLang="en-US" dirty="0" smtClean="0"/>
              <a:t> 專案管理 文件管理 工作日誌  程式碼共同開發 </a:t>
            </a:r>
            <a:r>
              <a:rPr lang="zh-TW" altLang="en-US" smtClean="0"/>
              <a:t>版本</a:t>
            </a:r>
            <a:r>
              <a:rPr lang="zh-TW" altLang="en-US" smtClean="0"/>
              <a:t>管</a:t>
            </a:r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F782D4-CC15-48F2-AB7F-1CD292595F12}" type="slidenum">
              <a:rPr lang="zh-TW" altLang="en-US" smtClean="0"/>
              <a:pPr/>
              <a:t>0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080549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/>
            </a:r>
            <a:br>
              <a:rPr lang="zh-TW" altLang="en-US" dirty="0" smtClean="0"/>
            </a:b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cs typeface="+mn-cs"/>
              </a:rPr>
              <a:t>客戶關係管理</a:t>
            </a:r>
            <a:endParaRPr lang="en-US" altLang="zh-TW" sz="1200" b="0" i="0" kern="1200" dirty="0" smtClean="0">
              <a:solidFill>
                <a:schemeClr val="tx1"/>
              </a:solidFill>
              <a:effectLst/>
              <a:cs typeface="+mn-cs"/>
            </a:endParaRPr>
          </a:p>
          <a:p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cs typeface="+mn-cs"/>
              </a:rPr>
              <a:t>銷售 服務 行銷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F782D4-CC15-48F2-AB7F-1CD292595F12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4695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哪個代理與哪個客戶服務和評價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F782D4-CC15-48F2-AB7F-1CD292595F12}" type="slidenum">
              <a:rPr lang="zh-TW" altLang="en-US" smtClean="0"/>
              <a:pPr/>
              <a:t>13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99484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功能完整性與客製化程度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F782D4-CC15-48F2-AB7F-1CD292595F12}" type="slidenum">
              <a:rPr lang="zh-TW" altLang="en-US" smtClean="0"/>
              <a:pPr/>
              <a:t>22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15805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044E-0DEA-4853-877F-C23E1BAB08D9}" type="datetime1">
              <a:rPr lang="zh-TW" altLang="en-US" smtClean="0"/>
              <a:t>2018/4/18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A5FA2-A0EE-414E-8144-08D98B7FEA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8304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35594-04BD-4AF3-B745-90BF1C8588B4}" type="datetime1">
              <a:rPr lang="zh-TW" altLang="en-US" smtClean="0"/>
              <a:t>2018/4/18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A5FA2-A0EE-414E-8144-08D98B7FEA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7403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90ADA-6334-43FB-A3DB-AD9BDF316CAE}" type="datetime1">
              <a:rPr lang="zh-TW" altLang="en-US" smtClean="0"/>
              <a:t>2018/4/18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A5FA2-A0EE-414E-8144-08D98B7FEA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3048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E562C-084C-4592-BADF-0CFC9F437D94}" type="datetime1">
              <a:rPr lang="zh-TW" altLang="en-US" smtClean="0"/>
              <a:t>2018/4/18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A5FA2-A0EE-414E-8144-08D98B7FEA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9796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EE880-1F86-42B0-B27C-03E0E6AF1FF0}" type="datetime1">
              <a:rPr lang="zh-TW" altLang="en-US" smtClean="0"/>
              <a:t>2018/4/18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A5FA2-A0EE-414E-8144-08D98B7FEA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7966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3C35B-3494-4CC6-B93E-898E7534A6F9}" type="datetime1">
              <a:rPr lang="zh-TW" altLang="en-US" smtClean="0"/>
              <a:t>2018/4/18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A5FA2-A0EE-414E-8144-08D98B7FEA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6275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8E4A0-72A6-452C-A4E0-D02819C433D3}" type="datetime1">
              <a:rPr lang="zh-TW" altLang="en-US" smtClean="0"/>
              <a:t>2018/4/18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A5FA2-A0EE-414E-8144-08D98B7FEA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9771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23D83-C17D-4879-88F3-2339B8C157BA}" type="datetime1">
              <a:rPr lang="zh-TW" altLang="en-US" smtClean="0"/>
              <a:t>2018/4/18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A5FA2-A0EE-414E-8144-08D98B7FEA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581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A7274-2E5E-422F-B4B1-D4D8DC35B638}" type="datetime1">
              <a:rPr lang="zh-TW" altLang="en-US" smtClean="0"/>
              <a:t>2018/4/18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A5FA2-A0EE-414E-8144-08D98B7FEA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7798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8601F-CFC5-4F6C-9000-E4DB1ABF5E0D}" type="datetime1">
              <a:rPr lang="zh-TW" altLang="en-US" smtClean="0"/>
              <a:t>2018/4/18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A5FA2-A0EE-414E-8144-08D98B7FEA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6876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CE40-E4FA-4E56-A9E4-6A7FDF37B129}" type="datetime1">
              <a:rPr lang="zh-TW" altLang="en-US" smtClean="0"/>
              <a:t>2018/4/18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A5FA2-A0EE-414E-8144-08D98B7FEA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123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 smtClean="0"/>
              <a:t>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27C5E8B1-476E-4274-B95E-62FF72D6DFAF}" type="datetime1">
              <a:rPr lang="zh-TW" altLang="en-US" smtClean="0"/>
              <a:t>2018/4/18</a:t>
            </a:fld>
            <a:endParaRPr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BDCA5FA2-A0EE-414E-8144-08D98B7FEA9D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75806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alesforce.com/tw/" TargetMode="External"/><Relationship Id="rId2" Type="http://schemas.openxmlformats.org/officeDocument/2006/relationships/hyperlink" Target="http://wiki.mbalib.com/zh-tw/%E5%94%AE%E5%90%8E%E6%9C%8D%E5%8A%A1%E6%B5%81%E7%A8%8B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9.io/login" TargetMode="External"/><Relationship Id="rId5" Type="http://schemas.openxmlformats.org/officeDocument/2006/relationships/hyperlink" Target="https://www.eztrust.com.tw/html/webdesign/show.aspx?num=29&amp;category=B&amp;kind=121" TargetMode="External"/><Relationship Id="rId4" Type="http://schemas.openxmlformats.org/officeDocument/2006/relationships/hyperlink" Target="https://www.zopim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售後服務與客服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endParaRPr lang="en-US" altLang="zh-TW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M0629003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陳冠彰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49976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售後服務介紹</a:t>
            </a:r>
            <a:endParaRPr lang="zh-TW" altLang="en-US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指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生產企業，經銷商把產品（或服務）銷售給消費者之後，為消費者提供的一系列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服務。售後服務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是產品生產單位對消費者負責的一項重要措施，也是增強產品競爭能力的一個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辦法，售後服務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的內容包括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457200" lvl="1" indent="0">
              <a:buNone/>
            </a:pP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1.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代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為消費者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安裝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調試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產品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457200" lvl="1" indent="0">
              <a:buNone/>
            </a:pP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2.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根據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消費者要求，進行有關使用等方面的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技術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</a:rPr>
              <a:t>指導</a:t>
            </a:r>
            <a:endParaRPr lang="en-US" altLang="zh-TW" dirty="0">
              <a:solidFill>
                <a:srgbClr val="FF0000"/>
              </a:solidFill>
              <a:latin typeface="標楷體" panose="03000509000000000000" pitchFamily="65" charset="-120"/>
            </a:endParaRPr>
          </a:p>
          <a:p>
            <a:pPr marL="457200" lvl="1" indent="0">
              <a:buNone/>
            </a:pP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3.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保證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維修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零配件的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供應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457200" lvl="1" indent="0">
              <a:buNone/>
            </a:pP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4.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負責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維修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服務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457200" lvl="1" indent="0">
              <a:buNone/>
            </a:pP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5.	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對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產品實行“三包”，即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包修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包換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包退</a:t>
            </a:r>
            <a:endParaRPr lang="en-US" altLang="zh-TW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457200" lvl="1" indent="0">
              <a:buNone/>
            </a:pP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6.	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處理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消費者來信來訪，解答消費者的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咨詢</a:t>
            </a:r>
            <a:endParaRPr lang="en-US" altLang="zh-TW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457200" lvl="1" indent="0">
              <a:buNone/>
            </a:pP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7.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同時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用各種方式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徵集消費者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對產品質量的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意見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，並根據情況及時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改進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A5FA2-A0EE-414E-8144-08D98B7FEA9D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3640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600" dirty="0" smtClean="0"/>
              <a:t>軟體售後服務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提供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軟體的安裝、調試和對</a:t>
            </a:r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操作員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進行</a:t>
            </a:r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培訓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，保證指定操作員能</a:t>
            </a:r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獨立上崗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工作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提供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軟體的技術支持</a:t>
            </a:r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免費維護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3.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系統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本身出錯，提供因為軟體本身問題的</a:t>
            </a:r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維護服務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4.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操作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錯誤引起系統故障問題或數據出錯，公司提供軟體的</a:t>
            </a:r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數據維護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數據修復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5.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提供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軟體安全解決方案，儘量</a:t>
            </a:r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降低或避免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因為</a:t>
            </a:r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外部因素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造成的不利影響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6.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電腦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的作業系統不穩定、系統中毒、不按規定流程操作等問題，不在公司的維護的範圍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之</a:t>
            </a:r>
            <a:endParaRPr lang="en-US" altLang="zh-TW" sz="20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內，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軟體公司提供解決建議性方案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7.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做好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人員調動</a:t>
            </a:r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交接工作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，以保證系統的穩定運行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8.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提供</a:t>
            </a:r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個性化修改服務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，按實際情況確定工期及相關費用。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A5FA2-A0EE-414E-8144-08D98B7FEA9D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1939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600" dirty="0" smtClean="0"/>
              <a:t>售後服務方式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售後服務常見之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方式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　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電話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、電報、傳真之詢問及回答。 　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到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貴公司解說及修護。 　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郵寄商品供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貴公司自行更換。 　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維護由公司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寄來或送來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之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商品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>
                <a:latin typeface="標楷體" panose="03000509000000000000" pitchFamily="65" charset="-120"/>
              </a:rPr>
              <a:t>線上客</a:t>
            </a:r>
            <a:r>
              <a:rPr lang="zh-TW" altLang="en-US" dirty="0" smtClean="0">
                <a:latin typeface="標楷體" panose="03000509000000000000" pitchFamily="65" charset="-120"/>
              </a:rPr>
              <a:t>服諮詢。</a:t>
            </a:r>
            <a:endParaRPr lang="en-US" altLang="zh-TW" dirty="0" smtClean="0">
              <a:latin typeface="標楷體" panose="03000509000000000000" pitchFamily="65" charset="-120"/>
            </a:endParaRPr>
          </a:p>
          <a:p>
            <a:pPr lvl="1"/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A5FA2-A0EE-414E-8144-08D98B7FEA9D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3627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售後服務與客服種類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5808" y="1500188"/>
            <a:ext cx="4112741" cy="5099800"/>
          </a:xfrm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A5FA2-A0EE-414E-8144-08D98B7FEA9D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1020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1747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3600" dirty="0" smtClean="0"/>
              <a:t>Salesforce</a:t>
            </a:r>
            <a:endParaRPr lang="zh-TW" altLang="en-US" sz="3600" dirty="0"/>
          </a:p>
        </p:txBody>
      </p:sp>
      <p:pic>
        <p:nvPicPr>
          <p:cNvPr id="13" name="Picture 4" descr="https://c1.sfdcstatic.com/content/dam/web/en_us/www/images/products/sales-cloud-desktop-1-salesforce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9" t="3771" r="2136" b="33388"/>
          <a:stretch/>
        </p:blipFill>
        <p:spPr bwMode="auto">
          <a:xfrm>
            <a:off x="500872" y="1139303"/>
            <a:ext cx="9294628" cy="5233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https://c1.sfdcstatic.com/content/dam/web/en_us/www/images/products/service-cloud-4-sales-force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4" t="2886" r="13099" b="36874"/>
          <a:stretch/>
        </p:blipFill>
        <p:spPr bwMode="auto">
          <a:xfrm>
            <a:off x="500872" y="1139303"/>
            <a:ext cx="9272667" cy="5314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https://c1.sfdcstatic.com/content/dam/web/en_us/www/images/products/marketing-cloud-1-salesforce-crm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28" t="7319" r="17720" b="14745"/>
          <a:stretch/>
        </p:blipFill>
        <p:spPr bwMode="auto">
          <a:xfrm>
            <a:off x="529184" y="1176048"/>
            <a:ext cx="8251723" cy="5319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圖片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567" y="1105337"/>
            <a:ext cx="11817265" cy="5605129"/>
          </a:xfrm>
          <a:prstGeom prst="rect">
            <a:avLst/>
          </a:prstGeom>
        </p:spPr>
      </p:pic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 rotWithShape="1">
          <a:blip r:embed="rId7"/>
          <a:srcRect r="67438"/>
          <a:stretch/>
        </p:blipFill>
        <p:spPr>
          <a:xfrm>
            <a:off x="8581227" y="420734"/>
            <a:ext cx="3402928" cy="20193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</p:pic>
      <p:pic>
        <p:nvPicPr>
          <p:cNvPr id="9" name="內容版面配置區 3"/>
          <p:cNvPicPr>
            <a:picLocks noChangeAspect="1"/>
          </p:cNvPicPr>
          <p:nvPr/>
        </p:nvPicPr>
        <p:blipFill rotWithShape="1">
          <a:blip r:embed="rId7"/>
          <a:srcRect l="32975" r="32840"/>
          <a:stretch/>
        </p:blipFill>
        <p:spPr>
          <a:xfrm>
            <a:off x="8593388" y="420734"/>
            <a:ext cx="3572539" cy="2019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pic>
        <p:nvPicPr>
          <p:cNvPr id="10" name="內容版面配置區 3"/>
          <p:cNvPicPr>
            <a:picLocks noChangeAspect="1"/>
          </p:cNvPicPr>
          <p:nvPr/>
        </p:nvPicPr>
        <p:blipFill rotWithShape="1">
          <a:blip r:embed="rId7"/>
          <a:srcRect l="67370"/>
          <a:stretch/>
        </p:blipFill>
        <p:spPr>
          <a:xfrm>
            <a:off x="8593388" y="433388"/>
            <a:ext cx="3410016" cy="20193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A5FA2-A0EE-414E-8144-08D98B7FEA9D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8314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/>
              <a:t>Zopim ( 1 / 17 )</a:t>
            </a:r>
            <a:endParaRPr lang="zh-TW" altLang="en-US" sz="3600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556" y="1400322"/>
            <a:ext cx="5686895" cy="5284851"/>
          </a:xfr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807" y="672528"/>
            <a:ext cx="5010733" cy="2562867"/>
          </a:xfrm>
          <a:prstGeom prst="rect">
            <a:avLst/>
          </a:prstGeom>
        </p:spPr>
      </p:pic>
      <p:sp>
        <p:nvSpPr>
          <p:cNvPr id="6" name="橢圓 5"/>
          <p:cNvSpPr/>
          <p:nvPr/>
        </p:nvSpPr>
        <p:spPr>
          <a:xfrm>
            <a:off x="1744824" y="3424333"/>
            <a:ext cx="4226768" cy="71845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9746" y="3256383"/>
            <a:ext cx="2332194" cy="3428789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7807" y="1400322"/>
            <a:ext cx="6706377" cy="52594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A5FA2-A0EE-414E-8144-08D98B7FEA9D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3698543" y="1400322"/>
            <a:ext cx="1023582" cy="4557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4722125" y="1400322"/>
            <a:ext cx="1450736" cy="4557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6186297" y="1400322"/>
            <a:ext cx="1450736" cy="4557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0503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9" grpId="0" animBg="1"/>
      <p:bldP spid="9" grpId="1" animBg="1"/>
      <p:bldP spid="10" grpId="0" animBg="1"/>
      <p:bldP spid="10" grpId="1" animBg="1"/>
      <p:bldP spid="11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/>
              <a:t>Zopim ( 2 / 17 ) – Cloud 9</a:t>
            </a:r>
            <a:endParaRPr lang="zh-TW" altLang="en-US" sz="3600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282231" cy="4831410"/>
          </a:xfrm>
          <a:prstGeom prst="rect">
            <a:avLst/>
          </a:prstGeom>
        </p:spPr>
      </p:pic>
      <p:sp>
        <p:nvSpPr>
          <p:cNvPr id="6" name="橢圓 5"/>
          <p:cNvSpPr/>
          <p:nvPr/>
        </p:nvSpPr>
        <p:spPr>
          <a:xfrm>
            <a:off x="3694922" y="3685592"/>
            <a:ext cx="1651519" cy="154888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5850294" y="3331952"/>
            <a:ext cx="2220686" cy="226641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A5FA2-A0EE-414E-8144-08D98B7FEA9D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20" y="1707502"/>
            <a:ext cx="10269590" cy="483141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cxnSp>
        <p:nvCxnSpPr>
          <p:cNvPr id="11" name="直線接點 10"/>
          <p:cNvCxnSpPr/>
          <p:nvPr/>
        </p:nvCxnSpPr>
        <p:spPr>
          <a:xfrm>
            <a:off x="5988840" y="3797899"/>
            <a:ext cx="71676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8676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/>
              <a:t>Zopim ( 3 / 17 </a:t>
            </a:r>
            <a:r>
              <a:rPr lang="en-US" altLang="zh-TW" sz="3600" dirty="0"/>
              <a:t>) – Cloud 9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825626"/>
            <a:ext cx="10255898" cy="4758434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405673" y="2397967"/>
            <a:ext cx="774441" cy="3079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3405671" y="2708816"/>
            <a:ext cx="4012165" cy="11908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5980921" y="1718681"/>
            <a:ext cx="923731" cy="446022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單箭頭接點 10"/>
          <p:cNvCxnSpPr/>
          <p:nvPr/>
        </p:nvCxnSpPr>
        <p:spPr>
          <a:xfrm flipH="1" flipV="1">
            <a:off x="6872404" y="2015600"/>
            <a:ext cx="648461" cy="36389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A5FA2-A0EE-414E-8144-08D98B7FEA9D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825624"/>
            <a:ext cx="10255900" cy="4775075"/>
          </a:xfrm>
          <a:prstGeom prst="rect">
            <a:avLst/>
          </a:prstGeom>
        </p:spPr>
      </p:pic>
      <p:cxnSp>
        <p:nvCxnSpPr>
          <p:cNvPr id="12" name="直線接點 11"/>
          <p:cNvCxnSpPr/>
          <p:nvPr/>
        </p:nvCxnSpPr>
        <p:spPr>
          <a:xfrm>
            <a:off x="4619625" y="4719638"/>
            <a:ext cx="247173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 flipH="1" flipV="1">
            <a:off x="5705475" y="4729163"/>
            <a:ext cx="238125" cy="4381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圖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1825623"/>
            <a:ext cx="10515601" cy="496677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cxnSp>
        <p:nvCxnSpPr>
          <p:cNvPr id="17" name="直線接點 16"/>
          <p:cNvCxnSpPr/>
          <p:nvPr/>
        </p:nvCxnSpPr>
        <p:spPr>
          <a:xfrm>
            <a:off x="1092200" y="4953000"/>
            <a:ext cx="9017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 flipH="1" flipV="1">
            <a:off x="2006600" y="4914900"/>
            <a:ext cx="393700" cy="25241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4758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/>
              <a:t>Zopim ( 4 / 17 </a:t>
            </a:r>
            <a:r>
              <a:rPr lang="en-US" altLang="zh-TW" sz="3600" dirty="0"/>
              <a:t>) – Cloud 9</a:t>
            </a:r>
            <a:endParaRPr lang="zh-TW" altLang="en-US" sz="3600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6710265" cy="3158798"/>
          </a:xfr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2800350" cy="378142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110343" y="2519265"/>
            <a:ext cx="1996751" cy="31724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942392" y="4236098"/>
            <a:ext cx="2575249" cy="10263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5372100" y="3067050"/>
            <a:ext cx="2176365" cy="17824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036" y="1681163"/>
            <a:ext cx="2743200" cy="3790950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693" y="1690688"/>
            <a:ext cx="2743200" cy="3790950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A5FA2-A0EE-414E-8144-08D98B7FEA9D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7812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3" grpId="0" animBg="1"/>
      <p:bldP spid="3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/>
              <a:t>Zopim ( 5 / 17 </a:t>
            </a:r>
            <a:r>
              <a:rPr lang="en-US" altLang="zh-TW" sz="3600" dirty="0"/>
              <a:t>) – Cloud 9</a:t>
            </a:r>
            <a:endParaRPr lang="zh-TW" altLang="en-US" sz="3600" dirty="0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9677" y="1690688"/>
            <a:ext cx="2800350" cy="3810000"/>
          </a:xfr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86" y="1690688"/>
            <a:ext cx="2781300" cy="3819525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116" y="1695450"/>
            <a:ext cx="2781300" cy="3829050"/>
          </a:xfrm>
          <a:prstGeom prst="rect">
            <a:avLst/>
          </a:prstGeom>
        </p:spPr>
      </p:pic>
      <p:sp>
        <p:nvSpPr>
          <p:cNvPr id="9" name="橢圓 8"/>
          <p:cNvSpPr/>
          <p:nvPr/>
        </p:nvSpPr>
        <p:spPr>
          <a:xfrm>
            <a:off x="224129" y="5248955"/>
            <a:ext cx="566446" cy="27554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159" y="1690688"/>
            <a:ext cx="2771775" cy="3810000"/>
          </a:xfrm>
          <a:prstGeom prst="rect">
            <a:avLst/>
          </a:prstGeom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A5FA2-A0EE-414E-8144-08D98B7FEA9D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4057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/>
              <a:t>Zopim ( 6 / 17 )</a:t>
            </a:r>
            <a:endParaRPr lang="zh-TW" altLang="en-US" sz="3600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7"/>
            <a:ext cx="9943438" cy="4912131"/>
          </a:xfrm>
        </p:spPr>
      </p:pic>
      <p:cxnSp>
        <p:nvCxnSpPr>
          <p:cNvPr id="7" name="直線單箭頭接點 6"/>
          <p:cNvCxnSpPr/>
          <p:nvPr/>
        </p:nvCxnSpPr>
        <p:spPr>
          <a:xfrm>
            <a:off x="6911162" y="3700130"/>
            <a:ext cx="1275907" cy="850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>
            <a:off x="6932428" y="3926958"/>
            <a:ext cx="1275907" cy="850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>
            <a:off x="6900528" y="4384157"/>
            <a:ext cx="1275907" cy="850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>
            <a:off x="6879264" y="4745665"/>
            <a:ext cx="1275907" cy="850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 rot="185671">
            <a:off x="5438968" y="344905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 smtClean="0">
                <a:solidFill>
                  <a:srgbClr val="7030A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頁面檢視次數</a:t>
            </a:r>
            <a:endParaRPr lang="zh-TW" altLang="en-US" b="1" dirty="0">
              <a:solidFill>
                <a:srgbClr val="7030A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4" name="文字方塊 13"/>
          <p:cNvSpPr txBox="1"/>
          <p:nvPr/>
        </p:nvSpPr>
        <p:spPr>
          <a:xfrm rot="185671">
            <a:off x="5554385" y="369628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總造訪次數</a:t>
            </a:r>
            <a:endParaRPr lang="zh-TW" altLang="en-US" b="1" dirty="0">
              <a:solidFill>
                <a:srgbClr val="0070C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" name="文字方塊 14"/>
          <p:cNvSpPr txBox="1"/>
          <p:nvPr/>
        </p:nvSpPr>
        <p:spPr>
          <a:xfrm rot="185671">
            <a:off x="5554386" y="414981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 smtClean="0">
                <a:solidFill>
                  <a:srgbClr val="00B0F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唯一訪客數</a:t>
            </a:r>
            <a:endParaRPr lang="zh-TW" altLang="en-US" b="1" dirty="0">
              <a:solidFill>
                <a:srgbClr val="00B0F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6" name="文字方塊 15"/>
          <p:cNvSpPr txBox="1"/>
          <p:nvPr/>
        </p:nvSpPr>
        <p:spPr>
          <a:xfrm rot="185671">
            <a:off x="5785217" y="451131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 smtClean="0">
                <a:solidFill>
                  <a:schemeClr val="accent4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交談數</a:t>
            </a:r>
            <a:endParaRPr lang="zh-TW" altLang="en-US" b="1" dirty="0">
              <a:solidFill>
                <a:schemeClr val="accent4">
                  <a:lumMod val="5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7" name="橢圓 16"/>
          <p:cNvSpPr/>
          <p:nvPr/>
        </p:nvSpPr>
        <p:spPr>
          <a:xfrm>
            <a:off x="8496300" y="3489189"/>
            <a:ext cx="1479550" cy="8452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8682077" y="430324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 smtClean="0">
                <a:solidFill>
                  <a:srgbClr val="FF0000"/>
                </a:solidFill>
              </a:rPr>
              <a:t>最近活動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20" name="橢圓 19"/>
          <p:cNvSpPr/>
          <p:nvPr/>
        </p:nvSpPr>
        <p:spPr>
          <a:xfrm>
            <a:off x="838200" y="2219347"/>
            <a:ext cx="661988" cy="2381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/>
          <p:cNvSpPr txBox="1"/>
          <p:nvPr/>
        </p:nvSpPr>
        <p:spPr>
          <a:xfrm>
            <a:off x="210919" y="215374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主</a:t>
            </a:r>
            <a:r>
              <a:rPr lang="zh-TW" altLang="en-US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頁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A5FA2-A0EE-414E-8144-08D98B7FEA9D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5048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5" grpId="0"/>
      <p:bldP spid="16" grpId="0"/>
      <p:bldP spid="17" grpId="0" animBg="1"/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/>
              <a:t>Zopim ( 7 / 17 )</a:t>
            </a:r>
            <a:endParaRPr lang="zh-TW" altLang="en-US" sz="36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690688"/>
            <a:ext cx="9893365" cy="4887394"/>
          </a:xfrm>
          <a:prstGeom prst="rect">
            <a:avLst/>
          </a:prstGeom>
        </p:spPr>
      </p:pic>
      <p:sp>
        <p:nvSpPr>
          <p:cNvPr id="18" name="橢圓 17"/>
          <p:cNvSpPr/>
          <p:nvPr/>
        </p:nvSpPr>
        <p:spPr>
          <a:xfrm>
            <a:off x="838200" y="2483196"/>
            <a:ext cx="661988" cy="2381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/>
          <p:cNvSpPr txBox="1"/>
          <p:nvPr/>
        </p:nvSpPr>
        <p:spPr>
          <a:xfrm>
            <a:off x="210919" y="241759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訪</a:t>
            </a:r>
            <a:r>
              <a:rPr lang="zh-TW" altLang="en-US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客</a:t>
            </a:r>
          </a:p>
        </p:txBody>
      </p:sp>
      <p:cxnSp>
        <p:nvCxnSpPr>
          <p:cNvPr id="25" name="直線單箭頭接點 24"/>
          <p:cNvCxnSpPr/>
          <p:nvPr/>
        </p:nvCxnSpPr>
        <p:spPr>
          <a:xfrm flipV="1">
            <a:off x="2222500" y="3543300"/>
            <a:ext cx="0" cy="508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/>
          <p:nvPr/>
        </p:nvCxnSpPr>
        <p:spPr>
          <a:xfrm flipV="1">
            <a:off x="3384550" y="3543300"/>
            <a:ext cx="0" cy="10753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 flipV="1">
            <a:off x="3860800" y="3543300"/>
            <a:ext cx="0" cy="508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 flipV="1">
            <a:off x="5613400" y="3543300"/>
            <a:ext cx="0" cy="508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 flipV="1">
            <a:off x="9433768" y="3543300"/>
            <a:ext cx="0" cy="5376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1816697" y="40513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 smtClean="0"/>
              <a:t>訪客名稱</a:t>
            </a:r>
            <a:endParaRPr lang="zh-TW" altLang="en-US" b="1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2795195" y="4607248"/>
            <a:ext cx="20649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 smtClean="0"/>
              <a:t>上線時間</a:t>
            </a:r>
            <a:endParaRPr lang="en-US" altLang="zh-TW" b="1" dirty="0" smtClean="0"/>
          </a:p>
          <a:p>
            <a:r>
              <a:rPr lang="zh-TW" altLang="en-US" b="1" dirty="0" smtClean="0"/>
              <a:t>國家、</a:t>
            </a:r>
            <a:r>
              <a:rPr lang="en-US" altLang="zh-TW" b="1" dirty="0" smtClean="0"/>
              <a:t>OS</a:t>
            </a:r>
            <a:r>
              <a:rPr lang="zh-TW" altLang="en-US" b="1" dirty="0" smtClean="0"/>
              <a:t>、瀏覽</a:t>
            </a:r>
            <a:r>
              <a:rPr lang="zh-TW" altLang="en-US" b="1" dirty="0"/>
              <a:t>器</a:t>
            </a:r>
          </a:p>
        </p:txBody>
      </p:sp>
      <p:sp>
        <p:nvSpPr>
          <p:cNvPr id="35" name="文字方塊 34"/>
          <p:cNvSpPr txBox="1"/>
          <p:nvPr/>
        </p:nvSpPr>
        <p:spPr>
          <a:xfrm>
            <a:off x="3485530" y="405165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 smtClean="0"/>
              <a:t>服務人員</a:t>
            </a:r>
            <a:endParaRPr lang="zh-TW" altLang="en-US" b="1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4940469" y="405130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 smtClean="0"/>
              <a:t>訪客造訪的網站</a:t>
            </a:r>
            <a:endParaRPr lang="zh-TW" altLang="en-US" b="1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8813973" y="40513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 smtClean="0"/>
              <a:t>訪客來源</a:t>
            </a:r>
            <a:endParaRPr lang="zh-TW" altLang="en-US" b="1" dirty="0"/>
          </a:p>
        </p:txBody>
      </p:sp>
      <p:cxnSp>
        <p:nvCxnSpPr>
          <p:cNvPr id="5" name="直線單箭頭接點 4"/>
          <p:cNvCxnSpPr/>
          <p:nvPr/>
        </p:nvCxnSpPr>
        <p:spPr>
          <a:xfrm flipH="1">
            <a:off x="2222500" y="6076950"/>
            <a:ext cx="572695" cy="3238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>
            <a:off x="2795195" y="6076950"/>
            <a:ext cx="572695" cy="3238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2795195" y="5876925"/>
            <a:ext cx="0" cy="20002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2301169" y="554358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 smtClean="0"/>
              <a:t>聊天視窗</a:t>
            </a:r>
            <a:endParaRPr lang="zh-TW" altLang="en-US" b="1" dirty="0"/>
          </a:p>
        </p:txBody>
      </p:sp>
      <p:pic>
        <p:nvPicPr>
          <p:cNvPr id="30" name="圖片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8796" y="1764813"/>
            <a:ext cx="6968127" cy="4942306"/>
          </a:xfrm>
          <a:prstGeom prst="rect">
            <a:avLst/>
          </a:prstGeom>
        </p:spPr>
      </p:pic>
      <p:cxnSp>
        <p:nvCxnSpPr>
          <p:cNvPr id="13" name="弧形接點 12"/>
          <p:cNvCxnSpPr/>
          <p:nvPr/>
        </p:nvCxnSpPr>
        <p:spPr>
          <a:xfrm flipV="1">
            <a:off x="2395145" y="4420632"/>
            <a:ext cx="2493366" cy="1980168"/>
          </a:xfrm>
          <a:prstGeom prst="curvedConnector3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10220325" y="2038349"/>
            <a:ext cx="1638300" cy="46138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10780245" y="630827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 smtClean="0">
                <a:solidFill>
                  <a:srgbClr val="FF0000"/>
                </a:solidFill>
              </a:rPr>
              <a:t>客戶資料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A5FA2-A0EE-414E-8144-08D98B7FEA9D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8267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1" animBg="1"/>
      <p:bldP spid="22" grpId="1"/>
      <p:bldP spid="32" grpId="0"/>
      <p:bldP spid="32" grpId="1"/>
      <p:bldP spid="33" grpId="0"/>
      <p:bldP spid="33" grpId="1"/>
      <p:bldP spid="35" grpId="0"/>
      <p:bldP spid="35" grpId="1"/>
      <p:bldP spid="38" grpId="0"/>
      <p:bldP spid="38" grpId="1"/>
      <p:bldP spid="39" grpId="0"/>
      <p:bldP spid="39" grpId="1"/>
      <p:bldP spid="10" grpId="0"/>
      <p:bldP spid="10" grpId="1"/>
      <p:bldP spid="15" grpId="0" animBg="1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/>
              <a:t>Zopim ( 8 / 17 )</a:t>
            </a:r>
            <a:endParaRPr lang="zh-TW" altLang="en-US" sz="3600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9910665" cy="4885612"/>
          </a:xfrm>
        </p:spPr>
      </p:pic>
      <p:sp>
        <p:nvSpPr>
          <p:cNvPr id="6" name="橢圓 5"/>
          <p:cNvSpPr/>
          <p:nvPr/>
        </p:nvSpPr>
        <p:spPr>
          <a:xfrm>
            <a:off x="838200" y="2725802"/>
            <a:ext cx="661988" cy="2381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210919" y="266019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紀錄</a:t>
            </a:r>
            <a:endParaRPr lang="zh-TW" altLang="en-US" b="1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A5FA2-A0EE-414E-8144-08D98B7FEA9D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4314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/>
              <a:t>Zopim ( 9 / 17 )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89894"/>
            <a:ext cx="10617200" cy="4927749"/>
          </a:xfrm>
          <a:prstGeom prst="rect">
            <a:avLst/>
          </a:prstGeom>
        </p:spPr>
      </p:pic>
      <p:sp>
        <p:nvSpPr>
          <p:cNvPr id="6" name="橢圓 5"/>
          <p:cNvSpPr/>
          <p:nvPr/>
        </p:nvSpPr>
        <p:spPr>
          <a:xfrm>
            <a:off x="846992" y="3675370"/>
            <a:ext cx="844364" cy="30372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219711" y="366056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分析</a:t>
            </a:r>
            <a:endParaRPr lang="zh-TW" altLang="en-US" b="1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581275" y="3028950"/>
            <a:ext cx="828675" cy="3524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6862762" y="3028950"/>
            <a:ext cx="828675" cy="3524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A5FA2-A0EE-414E-8144-08D98B7FEA9D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10145486" y="2104571"/>
            <a:ext cx="682171" cy="29028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695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/>
              <a:t>Zopim ( 10 / 17 )</a:t>
            </a:r>
            <a:endParaRPr lang="zh-TW" altLang="en-US" sz="3600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9972719" cy="4900612"/>
          </a:xfrm>
        </p:spPr>
      </p:pic>
      <p:sp>
        <p:nvSpPr>
          <p:cNvPr id="6" name="橢圓 5"/>
          <p:cNvSpPr/>
          <p:nvPr/>
        </p:nvSpPr>
        <p:spPr>
          <a:xfrm>
            <a:off x="838200" y="3246502"/>
            <a:ext cx="661988" cy="2381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210919" y="318089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監控</a:t>
            </a:r>
            <a:endParaRPr lang="zh-TW" altLang="en-US" b="1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A5FA2-A0EE-414E-8144-08D98B7FEA9D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6709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/>
              <a:t>Zopim ( 11 / 17 )</a:t>
            </a:r>
            <a:endParaRPr lang="zh-TW" altLang="en-US" sz="3600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690688"/>
            <a:ext cx="9982201" cy="4920877"/>
          </a:xfrm>
        </p:spPr>
      </p:pic>
      <p:sp>
        <p:nvSpPr>
          <p:cNvPr id="4" name="橢圓 3"/>
          <p:cNvSpPr/>
          <p:nvPr/>
        </p:nvSpPr>
        <p:spPr>
          <a:xfrm>
            <a:off x="890952" y="3774039"/>
            <a:ext cx="661988" cy="2381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210919" y="370843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代理</a:t>
            </a:r>
            <a:endParaRPr lang="zh-TW" altLang="en-US" b="1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5275301" y="312930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 smtClean="0">
                <a:solidFill>
                  <a:srgbClr val="FF0000"/>
                </a:solidFill>
              </a:rPr>
              <a:t>員工</a:t>
            </a:r>
            <a:r>
              <a:rPr lang="zh-TW" altLang="en-US" b="1" dirty="0">
                <a:solidFill>
                  <a:srgbClr val="FF0000"/>
                </a:solidFill>
              </a:rPr>
              <a:t>管理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A5FA2-A0EE-414E-8144-08D98B7FEA9D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0673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9974489" cy="4922273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/>
              <a:t>Zopim ( 12 / 17 )</a:t>
            </a:r>
            <a:endParaRPr lang="zh-TW" altLang="en-US" sz="3600" dirty="0"/>
          </a:p>
        </p:txBody>
      </p:sp>
      <p:sp>
        <p:nvSpPr>
          <p:cNvPr id="6" name="橢圓 5"/>
          <p:cNvSpPr/>
          <p:nvPr/>
        </p:nvSpPr>
        <p:spPr>
          <a:xfrm>
            <a:off x="890952" y="3967474"/>
            <a:ext cx="661988" cy="2381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210919" y="390187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部門</a:t>
            </a:r>
            <a:endParaRPr lang="zh-TW" altLang="en-US" b="1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156030" y="313821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 smtClean="0">
                <a:solidFill>
                  <a:srgbClr val="FF0000"/>
                </a:solidFill>
              </a:rPr>
              <a:t>分區給代理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A5FA2-A0EE-414E-8144-08D98B7FEA9D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6049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/>
              <a:t>Zopim ( 13 / 17 )</a:t>
            </a:r>
            <a:endParaRPr lang="zh-TW" altLang="en-US" sz="3600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690688"/>
            <a:ext cx="10090639" cy="4971665"/>
          </a:xfrm>
        </p:spPr>
      </p:pic>
      <p:sp>
        <p:nvSpPr>
          <p:cNvPr id="6" name="橢圓 5"/>
          <p:cNvSpPr/>
          <p:nvPr/>
        </p:nvSpPr>
        <p:spPr>
          <a:xfrm>
            <a:off x="890952" y="4169697"/>
            <a:ext cx="661988" cy="2381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210919" y="410409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角</a:t>
            </a:r>
            <a:r>
              <a:rPr lang="zh-TW" altLang="en-US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色</a:t>
            </a:r>
            <a:endParaRPr lang="zh-TW" altLang="en-US" b="1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5329520" y="330880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 smtClean="0">
                <a:solidFill>
                  <a:srgbClr val="FF0000"/>
                </a:solidFill>
              </a:rPr>
              <a:t>權限管理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A5FA2-A0EE-414E-8144-08D98B7FEA9D}" type="slidenum">
              <a:rPr lang="zh-TW" altLang="en-US" smtClean="0"/>
              <a:t>18</a:t>
            </a:fld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2085975" y="2500313"/>
            <a:ext cx="400050" cy="1381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2085975" y="2703974"/>
            <a:ext cx="400050" cy="1381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2085975" y="2926687"/>
            <a:ext cx="400050" cy="1381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單箭頭接點 11"/>
          <p:cNvCxnSpPr>
            <a:endCxn id="5" idx="3"/>
          </p:cNvCxnSpPr>
          <p:nvPr/>
        </p:nvCxnSpPr>
        <p:spPr>
          <a:xfrm flipH="1" flipV="1">
            <a:off x="2486025" y="2569369"/>
            <a:ext cx="309563" cy="5929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 flipH="1" flipV="1">
            <a:off x="2486025" y="2773030"/>
            <a:ext cx="309563" cy="6750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endCxn id="10" idx="3"/>
          </p:cNvCxnSpPr>
          <p:nvPr/>
        </p:nvCxnSpPr>
        <p:spPr>
          <a:xfrm flipH="1" flipV="1">
            <a:off x="2486025" y="2995743"/>
            <a:ext cx="309563" cy="7666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/>
          <p:cNvSpPr txBox="1"/>
          <p:nvPr/>
        </p:nvSpPr>
        <p:spPr>
          <a:xfrm>
            <a:off x="2743340" y="3043565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b="1" dirty="0" smtClean="0"/>
              <a:t>擁有者</a:t>
            </a:r>
            <a:endParaRPr lang="zh-TW" altLang="en-US" sz="1100" b="1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2743340" y="3314100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b="1" dirty="0" smtClean="0"/>
              <a:t>管理員</a:t>
            </a:r>
            <a:endParaRPr lang="zh-TW" altLang="en-US" sz="1100" b="1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2743340" y="3639564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b="1" dirty="0" smtClean="0"/>
              <a:t>代理</a:t>
            </a:r>
            <a:endParaRPr lang="zh-TW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1223039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 animBg="1"/>
      <p:bldP spid="9" grpId="0" animBg="1"/>
      <p:bldP spid="10" grpId="0" animBg="1"/>
      <p:bldP spid="18" grpId="0"/>
      <p:bldP spid="19" grpId="0"/>
      <p:bldP spid="2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690688"/>
            <a:ext cx="10096500" cy="4982483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/>
              <a:t>Zopim ( 14 / 17 )</a:t>
            </a:r>
            <a:endParaRPr lang="zh-TW" altLang="en-US" sz="3600" dirty="0"/>
          </a:p>
        </p:txBody>
      </p:sp>
      <p:sp>
        <p:nvSpPr>
          <p:cNvPr id="6" name="橢圓 5"/>
          <p:cNvSpPr/>
          <p:nvPr/>
        </p:nvSpPr>
        <p:spPr>
          <a:xfrm>
            <a:off x="890952" y="4354335"/>
            <a:ext cx="661988" cy="2381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210919" y="428873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傳送</a:t>
            </a:r>
            <a:endParaRPr lang="zh-TW" altLang="en-US" b="1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5021827" y="4049832"/>
            <a:ext cx="21483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 smtClean="0">
                <a:solidFill>
                  <a:srgbClr val="FF0000"/>
                </a:solidFill>
              </a:rPr>
              <a:t>技能</a:t>
            </a:r>
            <a:r>
              <a:rPr lang="en-US" altLang="zh-TW" b="1" dirty="0" smtClean="0">
                <a:solidFill>
                  <a:srgbClr val="FF0000"/>
                </a:solidFill>
              </a:rPr>
              <a:t>:</a:t>
            </a:r>
            <a:r>
              <a:rPr lang="zh-TW" altLang="en-US" b="1" dirty="0" smtClean="0">
                <a:solidFill>
                  <a:srgbClr val="FF0000"/>
                </a:solidFill>
              </a:rPr>
              <a:t> 增加特殊功能</a:t>
            </a:r>
            <a:endParaRPr lang="en-US" altLang="zh-TW" b="1" dirty="0" smtClean="0">
              <a:solidFill>
                <a:srgbClr val="FF0000"/>
              </a:solidFill>
            </a:endParaRPr>
          </a:p>
          <a:p>
            <a:r>
              <a:rPr lang="zh-TW" altLang="en-US" b="1" dirty="0" smtClean="0">
                <a:solidFill>
                  <a:srgbClr val="FF0000"/>
                </a:solidFill>
              </a:rPr>
              <a:t>例如</a:t>
            </a:r>
            <a:r>
              <a:rPr lang="en-US" altLang="zh-TW" b="1" dirty="0" smtClean="0">
                <a:solidFill>
                  <a:srgbClr val="FF0000"/>
                </a:solidFill>
              </a:rPr>
              <a:t>:</a:t>
            </a:r>
            <a:r>
              <a:rPr lang="zh-TW" altLang="en-US" b="1" dirty="0" smtClean="0">
                <a:solidFill>
                  <a:srgbClr val="FF0000"/>
                </a:solidFill>
              </a:rPr>
              <a:t> 自動辨識</a:t>
            </a:r>
            <a:r>
              <a:rPr lang="zh-TW" altLang="en-US" b="1" dirty="0">
                <a:solidFill>
                  <a:srgbClr val="FF0000"/>
                </a:solidFill>
              </a:rPr>
              <a:t>語言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A5FA2-A0EE-414E-8144-08D98B7FEA9D}" type="slidenum">
              <a:rPr lang="zh-TW" altLang="en-US" smtClean="0"/>
              <a:t>19</a:t>
            </a:fld>
            <a:endParaRPr lang="zh-TW" altLang="en-US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8" y="1690688"/>
            <a:ext cx="10717920" cy="4909091"/>
          </a:xfrm>
          <a:prstGeom prst="rect">
            <a:avLst/>
          </a:prstGeom>
        </p:spPr>
      </p:pic>
      <p:sp>
        <p:nvSpPr>
          <p:cNvPr id="11" name="弧形向右箭號 10"/>
          <p:cNvSpPr/>
          <p:nvPr/>
        </p:nvSpPr>
        <p:spPr>
          <a:xfrm flipV="1">
            <a:off x="247650" y="4972049"/>
            <a:ext cx="533398" cy="1020787"/>
          </a:xfrm>
          <a:prstGeom prst="curved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23950" y="4914900"/>
            <a:ext cx="581025" cy="2762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直線單箭頭接點 12"/>
          <p:cNvCxnSpPr/>
          <p:nvPr/>
        </p:nvCxnSpPr>
        <p:spPr>
          <a:xfrm flipH="1" flipV="1">
            <a:off x="2867025" y="3493474"/>
            <a:ext cx="180244" cy="47845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4783434" y="2146951"/>
            <a:ext cx="482431" cy="2841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接點 14"/>
          <p:cNvCxnSpPr/>
          <p:nvPr/>
        </p:nvCxnSpPr>
        <p:spPr>
          <a:xfrm>
            <a:off x="4895850" y="3110540"/>
            <a:ext cx="43367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1488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1"/>
      <p:bldP spid="8" grpId="0"/>
      <p:bldP spid="11" grpId="0" animBg="1"/>
      <p:bldP spid="12" grpId="0" animBg="1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/>
              <a:t>Zopim ( 15 / 17 )</a:t>
            </a:r>
            <a:endParaRPr lang="zh-TW" altLang="en-US" sz="3600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7"/>
            <a:ext cx="10103929" cy="4965089"/>
          </a:xfrm>
        </p:spPr>
      </p:pic>
      <p:sp>
        <p:nvSpPr>
          <p:cNvPr id="6" name="橢圓 5"/>
          <p:cNvSpPr/>
          <p:nvPr/>
        </p:nvSpPr>
        <p:spPr>
          <a:xfrm>
            <a:off x="890952" y="4538975"/>
            <a:ext cx="661988" cy="2381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17489" y="447337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快捷鍵</a:t>
            </a:r>
            <a:endParaRPr lang="en-US" altLang="zh-TW" b="1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5220750" y="404233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</a:rPr>
              <a:t>關鍵字</a:t>
            </a:r>
            <a:r>
              <a:rPr lang="zh-TW" altLang="en-US" b="1" dirty="0" smtClean="0">
                <a:solidFill>
                  <a:srgbClr val="FF0000"/>
                </a:solidFill>
              </a:rPr>
              <a:t>設定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A5FA2-A0EE-414E-8144-08D98B7FEA9D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434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03388"/>
            <a:ext cx="9936659" cy="4903604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/>
              <a:t>Zopim ( 16 / 17 )</a:t>
            </a:r>
            <a:endParaRPr lang="zh-TW" altLang="en-US" sz="3600" dirty="0"/>
          </a:p>
        </p:txBody>
      </p:sp>
      <p:sp>
        <p:nvSpPr>
          <p:cNvPr id="6" name="橢圓 5"/>
          <p:cNvSpPr/>
          <p:nvPr/>
        </p:nvSpPr>
        <p:spPr>
          <a:xfrm>
            <a:off x="890952" y="4697237"/>
            <a:ext cx="661988" cy="2381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228503" y="463163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禁止</a:t>
            </a:r>
            <a:endParaRPr lang="zh-TW" altLang="en-US" b="1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4903205" y="2791828"/>
            <a:ext cx="1292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 smtClean="0">
                <a:solidFill>
                  <a:srgbClr val="FF0000"/>
                </a:solidFill>
              </a:rPr>
              <a:t>禁止</a:t>
            </a:r>
            <a:r>
              <a:rPr lang="en-US" altLang="zh-TW" b="1" dirty="0" smtClean="0">
                <a:solidFill>
                  <a:srgbClr val="FF0000"/>
                </a:solidFill>
              </a:rPr>
              <a:t>IP</a:t>
            </a:r>
            <a:r>
              <a:rPr lang="zh-TW" altLang="en-US" b="1" dirty="0" smtClean="0">
                <a:solidFill>
                  <a:srgbClr val="FF0000"/>
                </a:solidFill>
              </a:rPr>
              <a:t>連線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A5FA2-A0EE-414E-8144-08D98B7FEA9D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298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/>
              <a:t>Zopim ( 17 / 17 )</a:t>
            </a:r>
            <a:endParaRPr lang="zh-TW" altLang="en-US" sz="3600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690688"/>
            <a:ext cx="10036215" cy="4947504"/>
          </a:xfrm>
        </p:spPr>
      </p:pic>
      <p:sp>
        <p:nvSpPr>
          <p:cNvPr id="6" name="橢圓 5"/>
          <p:cNvSpPr/>
          <p:nvPr/>
        </p:nvSpPr>
        <p:spPr>
          <a:xfrm>
            <a:off x="890952" y="4899459"/>
            <a:ext cx="661988" cy="2381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210919" y="483385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觸發</a:t>
            </a:r>
            <a:endParaRPr lang="zh-TW" altLang="en-US" b="1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840643" y="5137584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 smtClean="0">
                <a:solidFill>
                  <a:srgbClr val="FF0000"/>
                </a:solidFill>
              </a:rPr>
              <a:t>設定條件觸發</a:t>
            </a:r>
            <a:r>
              <a:rPr lang="zh-TW" altLang="en-US" b="1" dirty="0">
                <a:solidFill>
                  <a:srgbClr val="FF0000"/>
                </a:solidFill>
              </a:rPr>
              <a:t>功能</a:t>
            </a:r>
          </a:p>
        </p:txBody>
      </p:sp>
      <p:sp>
        <p:nvSpPr>
          <p:cNvPr id="10" name="橢圓 9"/>
          <p:cNvSpPr/>
          <p:nvPr/>
        </p:nvSpPr>
        <p:spPr>
          <a:xfrm>
            <a:off x="2933700" y="1895475"/>
            <a:ext cx="676275" cy="36195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單箭頭接點 11"/>
          <p:cNvCxnSpPr>
            <a:endCxn id="10" idx="7"/>
          </p:cNvCxnSpPr>
          <p:nvPr/>
        </p:nvCxnSpPr>
        <p:spPr>
          <a:xfrm flipH="1">
            <a:off x="3510937" y="1504950"/>
            <a:ext cx="403838" cy="4435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8" y="1690688"/>
            <a:ext cx="10025618" cy="4947504"/>
          </a:xfrm>
          <a:prstGeom prst="rect">
            <a:avLst/>
          </a:prstGeom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A5FA2-A0EE-414E-8144-08D98B7FEA9D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226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1" animBg="1"/>
      <p:bldP spid="7" grpId="1"/>
      <p:bldP spid="9" grpId="0"/>
      <p:bldP spid="10" grpId="0" animBg="1"/>
      <p:bldP spid="10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參考資料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dirty="0" smtClean="0"/>
              <a:t>售後服務流程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sz="2400" dirty="0" smtClean="0"/>
              <a:t>	</a:t>
            </a:r>
            <a:r>
              <a:rPr lang="en-US" altLang="zh-TW" sz="1400" dirty="0" smtClean="0">
                <a:hlinkClick r:id="rId2"/>
              </a:rPr>
              <a:t>http</a:t>
            </a:r>
            <a:r>
              <a:rPr lang="en-US" altLang="zh-TW" sz="1400" dirty="0">
                <a:hlinkClick r:id="rId2"/>
              </a:rPr>
              <a:t>://wiki.mbalib.com/zh-tw/%</a:t>
            </a:r>
            <a:r>
              <a:rPr lang="en-US" altLang="zh-TW" sz="1400" dirty="0" smtClean="0">
                <a:hlinkClick r:id="rId2"/>
              </a:rPr>
              <a:t>E5%94%AE%E5%90%8E%E6%9C%8D%E5%8A%A1%E6%B5%81%E7%A8%8B</a:t>
            </a:r>
            <a:endParaRPr lang="en-US" altLang="zh-TW" sz="1400" dirty="0"/>
          </a:p>
          <a:p>
            <a:r>
              <a:rPr lang="en-US" altLang="zh-TW" sz="2400" dirty="0" smtClean="0"/>
              <a:t>Salesforce</a:t>
            </a:r>
          </a:p>
          <a:p>
            <a:pPr marL="0" indent="0">
              <a:buNone/>
            </a:pPr>
            <a:r>
              <a:rPr lang="en-US" altLang="zh-TW" sz="2400" dirty="0" smtClean="0"/>
              <a:t>	</a:t>
            </a:r>
            <a:r>
              <a:rPr lang="en-US" altLang="zh-TW" sz="2000" dirty="0" smtClean="0">
                <a:hlinkClick r:id="rId3"/>
              </a:rPr>
              <a:t>https</a:t>
            </a:r>
            <a:r>
              <a:rPr lang="en-US" altLang="zh-TW" sz="2000" dirty="0">
                <a:hlinkClick r:id="rId3"/>
              </a:rPr>
              <a:t>://www.salesforce.com/tw</a:t>
            </a:r>
            <a:r>
              <a:rPr lang="en-US" altLang="zh-TW" sz="2000" dirty="0" smtClean="0">
                <a:hlinkClick r:id="rId3"/>
              </a:rPr>
              <a:t>/</a:t>
            </a:r>
            <a:r>
              <a:rPr lang="zh-TW" altLang="en-US" sz="2400" dirty="0" smtClean="0"/>
              <a:t> </a:t>
            </a:r>
            <a:endParaRPr lang="en-US" altLang="zh-TW" sz="2400" dirty="0" smtClean="0"/>
          </a:p>
          <a:p>
            <a:r>
              <a:rPr lang="en-US" altLang="zh-TW" sz="2400" dirty="0" smtClean="0"/>
              <a:t>Zopim Live Chat (zendesk chat)</a:t>
            </a:r>
          </a:p>
          <a:p>
            <a:pPr marL="0" indent="0">
              <a:buNone/>
            </a:pPr>
            <a:r>
              <a:rPr lang="en-US" altLang="zh-TW" sz="2400" dirty="0" smtClean="0"/>
              <a:t>	</a:t>
            </a:r>
            <a:r>
              <a:rPr lang="en-US" altLang="zh-TW" sz="2400" dirty="0">
                <a:hlinkClick r:id="rId4"/>
              </a:rPr>
              <a:t>https://www.zopim.com</a:t>
            </a:r>
            <a:r>
              <a:rPr lang="en-US" altLang="zh-TW" sz="2400" dirty="0" smtClean="0">
                <a:hlinkClick r:id="rId4"/>
              </a:rPr>
              <a:t>/</a:t>
            </a:r>
            <a:endParaRPr lang="en-US" altLang="zh-TW" sz="2400" dirty="0"/>
          </a:p>
          <a:p>
            <a:r>
              <a:rPr lang="en-US" altLang="zh-TW" sz="2400" dirty="0" smtClean="0"/>
              <a:t>Estrus</a:t>
            </a:r>
          </a:p>
          <a:p>
            <a:pPr marL="0" indent="0">
              <a:buNone/>
            </a:pPr>
            <a:r>
              <a:rPr lang="en-US" altLang="zh-TW" sz="2400" dirty="0" smtClean="0"/>
              <a:t>	</a:t>
            </a:r>
            <a:r>
              <a:rPr lang="en-US" altLang="zh-TW" sz="1900" dirty="0">
                <a:hlinkClick r:id="rId5"/>
              </a:rPr>
              <a:t>https://www.eztrust.com.tw/html/webdesign/show.aspx?num=29&amp;category=B&amp;kind=121</a:t>
            </a:r>
            <a:r>
              <a:rPr lang="en-US" altLang="zh-TW" sz="1900" dirty="0"/>
              <a:t> </a:t>
            </a:r>
            <a:endParaRPr lang="en-US" altLang="zh-TW" sz="2400" dirty="0" smtClean="0"/>
          </a:p>
          <a:p>
            <a:r>
              <a:rPr lang="en-US" altLang="zh-TW" sz="2400" dirty="0" smtClean="0"/>
              <a:t>Cloud9</a:t>
            </a:r>
          </a:p>
          <a:p>
            <a:pPr marL="0" indent="0">
              <a:buNone/>
            </a:pPr>
            <a:r>
              <a:rPr lang="en-US" altLang="zh-TW" sz="2400" dirty="0"/>
              <a:t>	</a:t>
            </a:r>
            <a:r>
              <a:rPr lang="en-US" altLang="zh-TW" sz="2400" dirty="0">
                <a:hlinkClick r:id="rId6"/>
              </a:rPr>
              <a:t>https://</a:t>
            </a:r>
            <a:r>
              <a:rPr lang="en-US" altLang="zh-TW" sz="2400" dirty="0" smtClean="0">
                <a:hlinkClick r:id="rId6"/>
              </a:rPr>
              <a:t>c9.io/login</a:t>
            </a:r>
            <a:r>
              <a:rPr lang="en-US" altLang="zh-TW" sz="2400" dirty="0" smtClean="0"/>
              <a:t> </a:t>
            </a:r>
            <a:endParaRPr lang="en-US" altLang="zh-TW" sz="1800" dirty="0" smtClean="0"/>
          </a:p>
          <a:p>
            <a:pPr marL="0" indent="0">
              <a:buNone/>
            </a:pPr>
            <a:r>
              <a:rPr lang="en-US" altLang="zh-TW" sz="2400" dirty="0" smtClean="0"/>
              <a:t>	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A5FA2-A0EE-414E-8144-08D98B7FEA9D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3518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720</TotalTime>
  <Words>522</Words>
  <Application>Microsoft Office PowerPoint</Application>
  <PresentationFormat>寬螢幕</PresentationFormat>
  <Paragraphs>129</Paragraphs>
  <Slides>24</Slides>
  <Notes>4</Notes>
  <HiddenSlides>1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30" baseType="lpstr">
      <vt:lpstr>新細明體</vt:lpstr>
      <vt:lpstr>標楷體</vt:lpstr>
      <vt:lpstr>Arial</vt:lpstr>
      <vt:lpstr>Calibri</vt:lpstr>
      <vt:lpstr>Times New Roman</vt:lpstr>
      <vt:lpstr>Office 佈景主題</vt:lpstr>
      <vt:lpstr>售後服務與客服</vt:lpstr>
      <vt:lpstr>售後服務介紹</vt:lpstr>
      <vt:lpstr>軟體售後服務</vt:lpstr>
      <vt:lpstr>售後服務方式</vt:lpstr>
      <vt:lpstr>售後服務與客服種類</vt:lpstr>
      <vt:lpstr>Salesforce</vt:lpstr>
      <vt:lpstr>Zopim ( 1 / 17 )</vt:lpstr>
      <vt:lpstr>Zopim ( 2 / 17 ) – Cloud 9</vt:lpstr>
      <vt:lpstr>Zopim ( 3 / 17 ) – Cloud 9</vt:lpstr>
      <vt:lpstr>Zopim ( 4 / 17 ) – Cloud 9</vt:lpstr>
      <vt:lpstr>Zopim ( 5 / 17 ) – Cloud 9</vt:lpstr>
      <vt:lpstr>Zopim ( 6 / 17 )</vt:lpstr>
      <vt:lpstr>Zopim ( 7 / 17 )</vt:lpstr>
      <vt:lpstr>Zopim ( 8 / 17 )</vt:lpstr>
      <vt:lpstr>Zopim ( 9 / 17 )</vt:lpstr>
      <vt:lpstr>Zopim ( 10 / 17 )</vt:lpstr>
      <vt:lpstr>Zopim ( 11 / 17 )</vt:lpstr>
      <vt:lpstr>Zopim ( 12 / 17 )</vt:lpstr>
      <vt:lpstr>Zopim ( 13 / 17 )</vt:lpstr>
      <vt:lpstr>Zopim ( 14 / 17 )</vt:lpstr>
      <vt:lpstr>Zopim ( 15 / 17 )</vt:lpstr>
      <vt:lpstr>Zopim ( 16 / 17 )</vt:lpstr>
      <vt:lpstr>Zopim ( 17 / 17 )</vt:lpstr>
      <vt:lpstr>參考資料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陳冠彰</dc:creator>
  <cp:lastModifiedBy>user</cp:lastModifiedBy>
  <cp:revision>60</cp:revision>
  <cp:lastPrinted>2018-04-17T01:30:49Z</cp:lastPrinted>
  <dcterms:created xsi:type="dcterms:W3CDTF">2018-04-15T15:57:09Z</dcterms:created>
  <dcterms:modified xsi:type="dcterms:W3CDTF">2018-04-18T05:54:56Z</dcterms:modified>
</cp:coreProperties>
</file>