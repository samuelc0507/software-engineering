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6" r:id="rId1"/>
  </p:sldMasterIdLst>
  <p:notesMasterIdLst>
    <p:notesMasterId r:id="rId36"/>
  </p:notesMasterIdLst>
  <p:sldIdLst>
    <p:sldId id="256" r:id="rId2"/>
    <p:sldId id="257" r:id="rId3"/>
    <p:sldId id="287" r:id="rId4"/>
    <p:sldId id="258" r:id="rId5"/>
    <p:sldId id="259" r:id="rId6"/>
    <p:sldId id="299" r:id="rId7"/>
    <p:sldId id="298" r:id="rId8"/>
    <p:sldId id="263" r:id="rId9"/>
    <p:sldId id="264" r:id="rId10"/>
    <p:sldId id="265" r:id="rId11"/>
    <p:sldId id="266" r:id="rId12"/>
    <p:sldId id="267" r:id="rId13"/>
    <p:sldId id="268" r:id="rId14"/>
    <p:sldId id="269" r:id="rId15"/>
    <p:sldId id="277" r:id="rId16"/>
    <p:sldId id="278" r:id="rId17"/>
    <p:sldId id="279" r:id="rId18"/>
    <p:sldId id="280" r:id="rId19"/>
    <p:sldId id="281" r:id="rId20"/>
    <p:sldId id="282" r:id="rId21"/>
    <p:sldId id="283" r:id="rId22"/>
    <p:sldId id="284" r:id="rId23"/>
    <p:sldId id="285" r:id="rId24"/>
    <p:sldId id="286" r:id="rId25"/>
    <p:sldId id="288" r:id="rId26"/>
    <p:sldId id="289" r:id="rId27"/>
    <p:sldId id="290" r:id="rId28"/>
    <p:sldId id="291" r:id="rId29"/>
    <p:sldId id="296" r:id="rId30"/>
    <p:sldId id="292" r:id="rId31"/>
    <p:sldId id="295" r:id="rId32"/>
    <p:sldId id="294" r:id="rId33"/>
    <p:sldId id="297" r:id="rId34"/>
    <p:sldId id="276" r:id="rId3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介紹" id="{8D0B3088-CC41-4A4C-8C08-B1AE025EA6C1}">
          <p14:sldIdLst>
            <p14:sldId id="256"/>
            <p14:sldId id="257"/>
            <p14:sldId id="287"/>
            <p14:sldId id="258"/>
          </p14:sldIdLst>
        </p14:section>
        <p14:section name="回歸測試軟體" id="{66D64C04-23B5-4FB5-B44E-B6061541F21F}">
          <p14:sldIdLst>
            <p14:sldId id="259"/>
          </p14:sldIdLst>
        </p14:section>
        <p14:section name="SahiPro" id="{B0B108CA-C457-43D3-B1A9-FE82A5451017}">
          <p14:sldIdLst>
            <p14:sldId id="299"/>
            <p14:sldId id="298"/>
            <p14:sldId id="263"/>
            <p14:sldId id="264"/>
            <p14:sldId id="265"/>
            <p14:sldId id="266"/>
            <p14:sldId id="267"/>
            <p14:sldId id="268"/>
            <p14:sldId id="269"/>
            <p14:sldId id="277"/>
            <p14:sldId id="278"/>
            <p14:sldId id="279"/>
            <p14:sldId id="280"/>
            <p14:sldId id="281"/>
            <p14:sldId id="282"/>
            <p14:sldId id="283"/>
            <p14:sldId id="284"/>
          </p14:sldIdLst>
        </p14:section>
        <p14:section name="Test Complete" id="{71B0F20C-165D-48B6-AB48-B32E974225CA}">
          <p14:sldIdLst>
            <p14:sldId id="285"/>
            <p14:sldId id="286"/>
            <p14:sldId id="288"/>
            <p14:sldId id="289"/>
            <p14:sldId id="290"/>
            <p14:sldId id="291"/>
            <p14:sldId id="296"/>
            <p14:sldId id="292"/>
            <p14:sldId id="295"/>
            <p14:sldId id="294"/>
          </p14:sldIdLst>
        </p14:section>
        <p14:section name="結尾" id="{B9DEE3CA-948B-4288-87CA-2E7C751E646B}">
          <p14:sldIdLst>
            <p14:sldId id="297"/>
            <p14:sldId id="27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0455" autoAdjust="0"/>
  </p:normalViewPr>
  <p:slideViewPr>
    <p:cSldViewPr snapToGrid="0">
      <p:cViewPr>
        <p:scale>
          <a:sx n="75" d="100"/>
          <a:sy n="75" d="100"/>
        </p:scale>
        <p:origin x="1110" y="174"/>
      </p:cViewPr>
      <p:guideLst>
        <p:guide orient="horz" pos="2160"/>
        <p:guide pos="384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7D454B-3C66-49A5-B377-3A79C855CCED}" type="datetimeFigureOut">
              <a:rPr lang="zh-TW" altLang="en-US" smtClean="0"/>
              <a:t>2018/4/17</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6B1B0B-C525-4822-9DE0-90EF3F2EC51A}" type="slidenum">
              <a:rPr lang="zh-TW" altLang="en-US" smtClean="0"/>
              <a:t>‹#›</a:t>
            </a:fld>
            <a:endParaRPr lang="zh-TW" altLang="en-US"/>
          </a:p>
        </p:txBody>
      </p:sp>
    </p:spTree>
    <p:extLst>
      <p:ext uri="{BB962C8B-B14F-4D97-AF65-F5344CB8AC3E}">
        <p14:creationId xmlns:p14="http://schemas.microsoft.com/office/powerpoint/2010/main" val="163346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800" kern="1200" dirty="0" smtClean="0">
                <a:solidFill>
                  <a:schemeClr val="tx1"/>
                </a:solidFill>
                <a:latin typeface="+mj-ea"/>
                <a:ea typeface="+mn-ea"/>
                <a:cs typeface="+mn-cs"/>
              </a:rPr>
              <a:t>在軟體開發的過程中，一定會不斷的修改程式碼，或是增加新功能的程式碼，每次更改程式碼後，我們就必須重新測試現有功能，我們要如何確保舊有的功能不會出錯？或是新增加的程式碼有沒有引入新的問題？</a:t>
            </a:r>
            <a:br>
              <a:rPr lang="zh-TW" altLang="en-US" sz="800" kern="1200" dirty="0" smtClean="0">
                <a:solidFill>
                  <a:schemeClr val="tx1"/>
                </a:solidFill>
                <a:latin typeface="+mj-ea"/>
                <a:ea typeface="+mn-ea"/>
                <a:cs typeface="+mn-cs"/>
              </a:rPr>
            </a:br>
            <a:endParaRPr lang="zh-TW" altLang="en-US" sz="800" kern="1200" dirty="0" smtClean="0">
              <a:solidFill>
                <a:schemeClr val="tx1"/>
              </a:solidFill>
              <a:latin typeface="+mj-ea"/>
              <a:ea typeface="+mn-ea"/>
              <a:cs typeface="+mn-cs"/>
            </a:endParaRPr>
          </a:p>
          <a:p>
            <a:r>
              <a:rPr lang="zh-TW" altLang="en-US" sz="800" kern="1200" dirty="0" smtClean="0">
                <a:solidFill>
                  <a:schemeClr val="tx1"/>
                </a:solidFill>
                <a:latin typeface="+mj-ea"/>
                <a:ea typeface="+mn-ea"/>
                <a:cs typeface="+mn-cs"/>
              </a:rPr>
              <a:t>當軟體一有變更時，我們必須重新測試現有功能，以便確認修改、新加入的部分沒有影響到既有功能，且達到預期的目的。為了驗證修改的正確性及其影響，此時我們就要進行回歸測試。</a:t>
            </a:r>
          </a:p>
          <a:p>
            <a:endParaRPr lang="zh-TW" altLang="en-US" dirty="0" smtClean="0">
              <a:latin typeface="微軟正黑體" panose="020B0604030504040204" pitchFamily="34" charset="-120"/>
              <a:ea typeface="微軟正黑體" panose="020B0604030504040204" pitchFamily="34" charset="-120"/>
            </a:endParaRPr>
          </a:p>
          <a:p>
            <a:endParaRPr lang="zh-TW" altLang="en-US" dirty="0"/>
          </a:p>
        </p:txBody>
      </p:sp>
      <p:sp>
        <p:nvSpPr>
          <p:cNvPr id="4" name="投影片編號版面配置區 3"/>
          <p:cNvSpPr>
            <a:spLocks noGrp="1"/>
          </p:cNvSpPr>
          <p:nvPr>
            <p:ph type="sldNum" sz="quarter" idx="10"/>
          </p:nvPr>
        </p:nvSpPr>
        <p:spPr/>
        <p:txBody>
          <a:bodyPr/>
          <a:lstStyle/>
          <a:p>
            <a:fld id="{386B1B0B-C525-4822-9DE0-90EF3F2EC51A}" type="slidenum">
              <a:rPr lang="zh-TW" altLang="en-US" smtClean="0"/>
              <a:t>2</a:t>
            </a:fld>
            <a:endParaRPr lang="zh-TW" altLang="en-US"/>
          </a:p>
        </p:txBody>
      </p:sp>
    </p:spTree>
    <p:extLst>
      <p:ext uri="{BB962C8B-B14F-4D97-AF65-F5344CB8AC3E}">
        <p14:creationId xmlns:p14="http://schemas.microsoft.com/office/powerpoint/2010/main" val="2904475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800" kern="1200" dirty="0" smtClean="0">
                <a:solidFill>
                  <a:schemeClr val="tx1"/>
                </a:solidFill>
                <a:latin typeface="+mj-ea"/>
                <a:ea typeface="+mn-ea"/>
                <a:cs typeface="+mn-cs"/>
              </a:rPr>
              <a:t>在軟體開發的過程中，一定會不斷的修改程式碼，或是增加新功能的程式碼，每次更改程式碼後，我們就必須重新測試現有功能，我們要如何確保舊有的功能不會出錯？或是新增加的程式碼有沒有引入新的問題？</a:t>
            </a:r>
            <a:br>
              <a:rPr lang="zh-TW" altLang="en-US" sz="800" kern="1200" dirty="0" smtClean="0">
                <a:solidFill>
                  <a:schemeClr val="tx1"/>
                </a:solidFill>
                <a:latin typeface="+mj-ea"/>
                <a:ea typeface="+mn-ea"/>
                <a:cs typeface="+mn-cs"/>
              </a:rPr>
            </a:br>
            <a:endParaRPr lang="zh-TW" altLang="en-US" sz="800" kern="1200" dirty="0" smtClean="0">
              <a:solidFill>
                <a:schemeClr val="tx1"/>
              </a:solidFill>
              <a:latin typeface="+mj-ea"/>
              <a:ea typeface="+mn-ea"/>
              <a:cs typeface="+mn-cs"/>
            </a:endParaRPr>
          </a:p>
          <a:p>
            <a:r>
              <a:rPr lang="zh-TW" altLang="en-US" sz="800" kern="1200" dirty="0" smtClean="0">
                <a:solidFill>
                  <a:schemeClr val="tx1"/>
                </a:solidFill>
                <a:latin typeface="+mj-ea"/>
                <a:ea typeface="+mn-ea"/>
                <a:cs typeface="+mn-cs"/>
              </a:rPr>
              <a:t>當軟體一有變更時，我們必須重新測試現有功能，以便確認修改、新加入的部分沒有影響到既有功能，且達到預期的目的。為了驗證修改的正確性及其影響，此時我們就要進行回歸測試。</a:t>
            </a:r>
          </a:p>
          <a:p>
            <a:endParaRPr lang="zh-TW" altLang="en-US" smtClean="0">
              <a:latin typeface="微軟正黑體" panose="020B0604030504040204" pitchFamily="34" charset="-120"/>
              <a:ea typeface="微軟正黑體" panose="020B0604030504040204" pitchFamily="34" charset="-120"/>
            </a:endParaRPr>
          </a:p>
          <a:p>
            <a:endParaRPr lang="zh-TW" altLang="en-US"/>
          </a:p>
        </p:txBody>
      </p:sp>
      <p:sp>
        <p:nvSpPr>
          <p:cNvPr id="4" name="投影片編號版面配置區 3"/>
          <p:cNvSpPr>
            <a:spLocks noGrp="1"/>
          </p:cNvSpPr>
          <p:nvPr>
            <p:ph type="sldNum" sz="quarter" idx="10"/>
          </p:nvPr>
        </p:nvSpPr>
        <p:spPr/>
        <p:txBody>
          <a:bodyPr/>
          <a:lstStyle/>
          <a:p>
            <a:fld id="{386B1B0B-C525-4822-9DE0-90EF3F2EC51A}" type="slidenum">
              <a:rPr lang="zh-TW" altLang="en-US" smtClean="0"/>
              <a:t>3</a:t>
            </a:fld>
            <a:endParaRPr lang="zh-TW" altLang="en-US"/>
          </a:p>
        </p:txBody>
      </p:sp>
    </p:spTree>
    <p:extLst>
      <p:ext uri="{BB962C8B-B14F-4D97-AF65-F5344CB8AC3E}">
        <p14:creationId xmlns:p14="http://schemas.microsoft.com/office/powerpoint/2010/main" val="2904475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1.Sahi Pro</a:t>
            </a:r>
            <a:r>
              <a:rPr lang="zh-TW" altLang="en-US" sz="1200" b="0" i="0" kern="1200" dirty="0" smtClean="0">
                <a:solidFill>
                  <a:schemeClr val="tx1"/>
                </a:solidFill>
                <a:effectLst/>
                <a:latin typeface="+mn-lt"/>
                <a:ea typeface="+mn-ea"/>
                <a:cs typeface="+mn-cs"/>
              </a:rPr>
              <a:t>屬於面向</a:t>
            </a:r>
            <a:r>
              <a:rPr lang="en-US" altLang="zh-TW" sz="1200" b="0" i="0" kern="1200" dirty="0" smtClean="0">
                <a:solidFill>
                  <a:schemeClr val="tx1"/>
                </a:solidFill>
                <a:effectLst/>
                <a:latin typeface="+mn-lt"/>
                <a:ea typeface="+mn-ea"/>
                <a:cs typeface="+mn-cs"/>
              </a:rPr>
              <a:t>Web</a:t>
            </a:r>
            <a:r>
              <a:rPr lang="zh-TW" altLang="en-US" sz="1200" b="0" i="0" kern="1200" dirty="0" smtClean="0">
                <a:solidFill>
                  <a:schemeClr val="tx1"/>
                </a:solidFill>
                <a:effectLst/>
                <a:latin typeface="+mn-lt"/>
                <a:ea typeface="+mn-ea"/>
                <a:cs typeface="+mn-cs"/>
              </a:rPr>
              <a:t>應用的商用測試自動化工具。</a:t>
            </a:r>
            <a:endParaRPr lang="en-US" altLang="zh-TW" sz="1200" b="0" i="0" kern="1200" dirty="0" smtClean="0">
              <a:solidFill>
                <a:schemeClr val="tx1"/>
              </a:solidFill>
              <a:effectLst/>
              <a:latin typeface="+mn-lt"/>
              <a:ea typeface="+mn-ea"/>
              <a:cs typeface="+mn-cs"/>
            </a:endParaRPr>
          </a:p>
          <a:p>
            <a:r>
              <a:rPr lang="en-US" altLang="zh-TW" sz="1200" b="0" i="0" kern="1200" dirty="0" smtClean="0">
                <a:solidFill>
                  <a:schemeClr val="tx1"/>
                </a:solidFill>
                <a:effectLst/>
                <a:latin typeface="+mn-lt"/>
                <a:ea typeface="+mn-ea"/>
                <a:cs typeface="+mn-cs"/>
              </a:rPr>
              <a:t>2. </a:t>
            </a:r>
            <a:r>
              <a:rPr lang="en-US" altLang="zh-TW" sz="1200" b="0" i="0" kern="1200" dirty="0" err="1" smtClean="0">
                <a:solidFill>
                  <a:schemeClr val="tx1"/>
                </a:solidFill>
                <a:effectLst/>
                <a:latin typeface="+mn-lt"/>
                <a:ea typeface="+mn-ea"/>
                <a:cs typeface="+mn-cs"/>
              </a:rPr>
              <a:t>TestCompletem</a:t>
            </a:r>
            <a:r>
              <a:rPr lang="zh-TW" altLang="en-US" sz="1200" b="0" i="0" kern="1200" dirty="0" smtClean="0">
                <a:solidFill>
                  <a:schemeClr val="tx1"/>
                </a:solidFill>
                <a:effectLst/>
                <a:latin typeface="+mn-lt"/>
                <a:ea typeface="+mn-ea"/>
                <a:cs typeface="+mn-cs"/>
              </a:rPr>
              <a:t>適用於桌面、</a:t>
            </a:r>
            <a:r>
              <a:rPr lang="en-US" altLang="zh-TW" sz="1200" b="0" i="0" kern="1200" dirty="0" smtClean="0">
                <a:solidFill>
                  <a:schemeClr val="tx1"/>
                </a:solidFill>
                <a:effectLst/>
                <a:latin typeface="+mn-lt"/>
                <a:ea typeface="+mn-ea"/>
                <a:cs typeface="+mn-cs"/>
              </a:rPr>
              <a:t>Web</a:t>
            </a:r>
            <a:r>
              <a:rPr lang="zh-TW" altLang="en-US" sz="1200" b="0" i="0" kern="1200" dirty="0" smtClean="0">
                <a:solidFill>
                  <a:schemeClr val="tx1"/>
                </a:solidFill>
                <a:effectLst/>
                <a:latin typeface="+mn-lt"/>
                <a:ea typeface="+mn-ea"/>
                <a:cs typeface="+mn-cs"/>
              </a:rPr>
              <a:t>以及移動測試工具。它能夠實現功能與回歸測試自動化</a:t>
            </a:r>
            <a:endParaRPr lang="en-US" altLang="zh-TW" sz="1200" b="0" i="0" kern="1200" dirty="0" smtClean="0">
              <a:solidFill>
                <a:schemeClr val="tx1"/>
              </a:solidFill>
              <a:effectLst/>
              <a:latin typeface="+mn-lt"/>
              <a:ea typeface="+mn-ea"/>
              <a:cs typeface="+mn-cs"/>
            </a:endParaRPr>
          </a:p>
          <a:p>
            <a:pPr fontAlgn="base"/>
            <a:r>
              <a:rPr lang="en-US" altLang="zh-TW" sz="1200" b="0" i="0" kern="1200" dirty="0" smtClean="0">
                <a:solidFill>
                  <a:schemeClr val="tx1"/>
                </a:solidFill>
                <a:effectLst/>
                <a:latin typeface="+mn-lt"/>
                <a:ea typeface="+mn-ea"/>
                <a:cs typeface="+mn-cs"/>
              </a:rPr>
              <a:t>3. Silk Test</a:t>
            </a:r>
            <a:r>
              <a:rPr lang="zh-TW" altLang="en-US" dirty="0" smtClean="0"/>
              <a:t>支持由文本到</a:t>
            </a:r>
            <a:r>
              <a:rPr lang="en-US" altLang="zh-TW" dirty="0" smtClean="0"/>
              <a:t>GUI</a:t>
            </a:r>
            <a:r>
              <a:rPr lang="zh-TW" altLang="en-US" dirty="0" smtClean="0"/>
              <a:t>命令的測試腳本轉換功能。</a:t>
            </a:r>
            <a:endParaRPr lang="zh-TW" altLang="en-US" sz="1200" kern="1200" dirty="0" smtClean="0">
              <a:solidFill>
                <a:schemeClr val="tx1"/>
              </a:solidFill>
              <a:effectLst/>
              <a:latin typeface="+mn-lt"/>
              <a:ea typeface="+mn-ea"/>
              <a:cs typeface="+mn-cs"/>
            </a:endParaRPr>
          </a:p>
          <a:p>
            <a:r>
              <a:rPr lang="en-US" altLang="zh-TW" dirty="0" smtClean="0"/>
              <a:t>4.</a:t>
            </a:r>
            <a:r>
              <a:rPr lang="zh-TW" altLang="en-US" sz="1200" b="0" i="0" kern="1200" dirty="0" smtClean="0">
                <a:solidFill>
                  <a:schemeClr val="tx1"/>
                </a:solidFill>
                <a:effectLst/>
                <a:latin typeface="+mn-lt"/>
                <a:ea typeface="+mn-ea"/>
                <a:cs typeface="+mn-cs"/>
              </a:rPr>
              <a:t>它可對利用</a:t>
            </a:r>
            <a:r>
              <a:rPr lang="en-US" altLang="zh-TW" sz="1200" b="0" i="0" kern="1200" dirty="0" err="1" smtClean="0">
                <a:solidFill>
                  <a:schemeClr val="tx1"/>
                </a:solidFill>
                <a:effectLst/>
                <a:latin typeface="+mn-lt"/>
                <a:ea typeface="+mn-ea"/>
                <a:cs typeface="+mn-cs"/>
              </a:rPr>
              <a:t>.Net</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Java</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SAP</a:t>
            </a:r>
            <a:r>
              <a:rPr lang="zh-TW" altLang="en-US" sz="1200" b="0" i="0" kern="1200" dirty="0" smtClean="0">
                <a:solidFill>
                  <a:schemeClr val="tx1"/>
                </a:solidFill>
                <a:effectLst/>
                <a:latin typeface="+mn-lt"/>
                <a:ea typeface="+mn-ea"/>
                <a:cs typeface="+mn-cs"/>
              </a:rPr>
              <a:t>、基於終端模擬器的應用、</a:t>
            </a:r>
            <a:r>
              <a:rPr lang="en-US" altLang="zh-TW" sz="1200" b="0" i="0" kern="1200" dirty="0" err="1" smtClean="0">
                <a:solidFill>
                  <a:schemeClr val="tx1"/>
                </a:solidFill>
                <a:effectLst/>
                <a:latin typeface="+mn-lt"/>
                <a:ea typeface="+mn-ea"/>
                <a:cs typeface="+mn-cs"/>
              </a:rPr>
              <a:t>Ajaz</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Dojo Toolkit</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Adobe PDF</a:t>
            </a:r>
            <a:r>
              <a:rPr lang="zh-TW" altLang="en-US" sz="1200" b="0" i="0" kern="1200" dirty="0" smtClean="0">
                <a:solidFill>
                  <a:schemeClr val="tx1"/>
                </a:solidFill>
                <a:effectLst/>
                <a:latin typeface="+mn-lt"/>
                <a:ea typeface="+mn-ea"/>
                <a:cs typeface="+mn-cs"/>
              </a:rPr>
              <a:t>文檔等應用進行測試。</a:t>
            </a:r>
            <a:endParaRPr lang="zh-TW" altLang="en-US" dirty="0"/>
          </a:p>
        </p:txBody>
      </p:sp>
      <p:sp>
        <p:nvSpPr>
          <p:cNvPr id="4" name="投影片編號版面配置區 3"/>
          <p:cNvSpPr>
            <a:spLocks noGrp="1"/>
          </p:cNvSpPr>
          <p:nvPr>
            <p:ph type="sldNum" sz="quarter" idx="10"/>
          </p:nvPr>
        </p:nvSpPr>
        <p:spPr/>
        <p:txBody>
          <a:bodyPr/>
          <a:lstStyle/>
          <a:p>
            <a:fld id="{386B1B0B-C525-4822-9DE0-90EF3F2EC51A}" type="slidenum">
              <a:rPr lang="zh-TW" altLang="en-US" smtClean="0"/>
              <a:t>5</a:t>
            </a:fld>
            <a:endParaRPr lang="zh-TW" altLang="en-US"/>
          </a:p>
        </p:txBody>
      </p:sp>
    </p:spTree>
    <p:extLst>
      <p:ext uri="{BB962C8B-B14F-4D97-AF65-F5344CB8AC3E}">
        <p14:creationId xmlns:p14="http://schemas.microsoft.com/office/powerpoint/2010/main" val="221051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86B1B0B-C525-4822-9DE0-90EF3F2EC51A}" type="slidenum">
              <a:rPr lang="zh-TW" altLang="en-US" smtClean="0"/>
              <a:t>8</a:t>
            </a:fld>
            <a:endParaRPr lang="zh-TW" altLang="en-US"/>
          </a:p>
        </p:txBody>
      </p:sp>
    </p:spTree>
    <p:extLst>
      <p:ext uri="{BB962C8B-B14F-4D97-AF65-F5344CB8AC3E}">
        <p14:creationId xmlns:p14="http://schemas.microsoft.com/office/powerpoint/2010/main" val="1465965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smtClean="0">
                <a:solidFill>
                  <a:schemeClr val="tx1"/>
                </a:solidFill>
                <a:effectLst/>
                <a:latin typeface="+mn-lt"/>
                <a:ea typeface="+mn-ea"/>
                <a:cs typeface="+mn-cs"/>
              </a:rPr>
              <a:t>這些出色的回歸測試工具已經被眾多中小型企業及大規模跨國企業所廣泛採用，相信它們也能夠幫助您在實際工作中更為順利地搞定測試難題。</a:t>
            </a:r>
            <a:endParaRPr lang="zh-TW" altLang="en-US" dirty="0"/>
          </a:p>
        </p:txBody>
      </p:sp>
      <p:sp>
        <p:nvSpPr>
          <p:cNvPr id="4" name="投影片編號版面配置區 3"/>
          <p:cNvSpPr>
            <a:spLocks noGrp="1"/>
          </p:cNvSpPr>
          <p:nvPr>
            <p:ph type="sldNum" sz="quarter" idx="10"/>
          </p:nvPr>
        </p:nvSpPr>
        <p:spPr/>
        <p:txBody>
          <a:bodyPr/>
          <a:lstStyle/>
          <a:p>
            <a:fld id="{386B1B0B-C525-4822-9DE0-90EF3F2EC51A}" type="slidenum">
              <a:rPr lang="zh-TW" altLang="en-US" smtClean="0"/>
              <a:t>33</a:t>
            </a:fld>
            <a:endParaRPr lang="zh-TW" altLang="en-US"/>
          </a:p>
        </p:txBody>
      </p:sp>
    </p:spTree>
    <p:extLst>
      <p:ext uri="{BB962C8B-B14F-4D97-AF65-F5344CB8AC3E}">
        <p14:creationId xmlns:p14="http://schemas.microsoft.com/office/powerpoint/2010/main" val="1568064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圓角矩形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標題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29" name="投影片編號版面配置區 28"/>
          <p:cNvSpPr>
            <a:spLocks noGrp="1"/>
          </p:cNvSpPr>
          <p:nvPr>
            <p:ph type="sldNum" sz="quarter" idx="12"/>
          </p:nvPr>
        </p:nvSpPr>
        <p:spPr/>
        <p:txBody>
          <a:bodyPr lIns="0" tIns="0" rIns="0" bIns="0">
            <a:noAutofit/>
          </a:bodyPr>
          <a:lstStyle>
            <a:lvl1pPr>
              <a:defRPr sz="1400">
                <a:solidFill>
                  <a:srgbClr val="FFFFFF"/>
                </a:solidFill>
              </a:defRPr>
            </a:lvl1pPr>
          </a:lstStyle>
          <a:p>
            <a:fld id="{26C65FCD-9E66-451C-BB57-5069538F290E}" type="slidenum">
              <a:rPr lang="zh-TW" altLang="en-US" smtClean="0"/>
              <a:t>‹#›</a:t>
            </a:fld>
            <a:endParaRPr lang="zh-TW" altLang="en-US"/>
          </a:p>
        </p:txBody>
      </p:sp>
      <p:sp>
        <p:nvSpPr>
          <p:cNvPr id="7" name="矩形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標題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zh-TW" altLang="en-US" smtClean="0"/>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4" name="日期版面配置區 3"/>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C65FCD-9E66-451C-BB57-5069538F290E}" type="slidenum">
              <a:rPr lang="zh-TW" altLang="en-US" smtClean="0"/>
              <a:t>‹#›</a:t>
            </a:fld>
            <a:endParaRPr lang="zh-TW" altLang="en-US"/>
          </a:p>
        </p:txBody>
      </p:sp>
      <p:sp>
        <p:nvSpPr>
          <p:cNvPr id="8" name="內容版面配置區 7"/>
          <p:cNvSpPr>
            <a:spLocks noGrp="1"/>
          </p:cNvSpPr>
          <p:nvPr>
            <p:ph sz="quarter" idx="1"/>
          </p:nvPr>
        </p:nvSpPr>
        <p:spPr>
          <a:xfrm>
            <a:off x="1219200" y="1447800"/>
            <a:ext cx="10363200" cy="4572000"/>
          </a:xfrm>
        </p:spPr>
        <p:txBody>
          <a:bodyPr vert="horz"/>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圓角矩形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5" name="頁尾版面配置區 4"/>
          <p:cNvSpPr>
            <a:spLocks noGrp="1"/>
          </p:cNvSpPr>
          <p:nvPr>
            <p:ph type="ftr" sz="quarter" idx="11"/>
          </p:nvPr>
        </p:nvSpPr>
        <p:spPr>
          <a:xfrm>
            <a:off x="1066800" y="6172200"/>
            <a:ext cx="5334000" cy="457200"/>
          </a:xfrm>
        </p:spPr>
        <p:txBody>
          <a:bodyPr/>
          <a:lstStyle/>
          <a:p>
            <a:endParaRPr lang="zh-TW" altLang="en-US"/>
          </a:p>
        </p:txBody>
      </p:sp>
      <p:sp>
        <p:nvSpPr>
          <p:cNvPr id="7" name="矩形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195072" y="6208776"/>
            <a:ext cx="609600" cy="457200"/>
          </a:xfrm>
        </p:spPr>
        <p:txBody>
          <a:bodyPr/>
          <a:lstStyle/>
          <a:p>
            <a:fld id="{26C65FCD-9E66-451C-BB57-5069538F290E}" type="slidenum">
              <a:rPr lang="zh-TW" altLang="en-US" smtClean="0"/>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6C65FCD-9E66-451C-BB57-5069538F290E}" type="slidenum">
              <a:rPr lang="zh-TW" altLang="en-US" smtClean="0"/>
              <a:t>‹#›</a:t>
            </a:fld>
            <a:endParaRPr lang="zh-TW" altLang="en-US"/>
          </a:p>
        </p:txBody>
      </p:sp>
      <p:sp>
        <p:nvSpPr>
          <p:cNvPr id="9" name="內容版面配置區 8"/>
          <p:cNvSpPr>
            <a:spLocks noGrp="1"/>
          </p:cNvSpPr>
          <p:nvPr>
            <p:ph sz="quarter" idx="1"/>
          </p:nvPr>
        </p:nvSpPr>
        <p:spPr>
          <a:xfrm>
            <a:off x="1219200" y="1447800"/>
            <a:ext cx="4998720" cy="4572000"/>
          </a:xfrm>
        </p:spPr>
        <p:txBody>
          <a:bodyPr vert="horz"/>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6578600" y="1447800"/>
            <a:ext cx="4998720" cy="4572000"/>
          </a:xfrm>
        </p:spPr>
        <p:txBody>
          <a:bodyPr vert="horz"/>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1219200" y="273050"/>
            <a:ext cx="10363200" cy="1143000"/>
          </a:xfrm>
        </p:spPr>
        <p:txBody>
          <a:bodyPr anchor="b" anchorCtr="0"/>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6C65FCD-9E66-451C-BB57-5069538F290E}" type="slidenum">
              <a:rPr lang="zh-TW" altLang="en-US" smtClean="0"/>
              <a:t>‹#›</a:t>
            </a:fld>
            <a:endParaRPr lang="zh-TW" altLang="en-US"/>
          </a:p>
        </p:txBody>
      </p:sp>
      <p:sp>
        <p:nvSpPr>
          <p:cNvPr id="11" name="內容版面配置區 10"/>
          <p:cNvSpPr>
            <a:spLocks noGrp="1"/>
          </p:cNvSpPr>
          <p:nvPr>
            <p:ph sz="half" idx="2"/>
          </p:nvPr>
        </p:nvSpPr>
        <p:spPr>
          <a:xfrm>
            <a:off x="1219200" y="2247900"/>
            <a:ext cx="4978400" cy="3886200"/>
          </a:xfrm>
        </p:spPr>
        <p:txBody>
          <a:bodyPr vert="horz"/>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half" idx="4"/>
          </p:nvPr>
        </p:nvSpPr>
        <p:spPr>
          <a:xfrm>
            <a:off x="6604000" y="2247900"/>
            <a:ext cx="4978400" cy="3886200"/>
          </a:xfrm>
        </p:spPr>
        <p:txBody>
          <a:bodyPr vert="horz"/>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6C65FCD-9E66-451C-BB57-5069538F290E}"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6C65FCD-9E66-451C-BB57-5069538F290E}"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8" name="矩形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圓角矩形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1219200" y="273050"/>
            <a:ext cx="10363200" cy="1143000"/>
          </a:xfrm>
        </p:spPr>
        <p:txBody>
          <a:bodyPr anchor="b" anchorCtr="0"/>
          <a:lstStyle>
            <a:lvl1pPr algn="l">
              <a:buNone/>
              <a:defRPr sz="4000" b="0"/>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6C65FCD-9E66-451C-BB57-5069538F290E}" type="slidenum">
              <a:rPr lang="zh-TW" altLang="en-US" smtClean="0"/>
              <a:t>‹#›</a:t>
            </a:fld>
            <a:endParaRPr lang="zh-TW" altLang="en-US"/>
          </a:p>
        </p:txBody>
      </p:sp>
      <p:sp>
        <p:nvSpPr>
          <p:cNvPr id="11" name="內容版面配置區 10"/>
          <p:cNvSpPr>
            <a:spLocks noGrp="1"/>
          </p:cNvSpPr>
          <p:nvPr>
            <p:ph sz="quarter" idx="1"/>
          </p:nvPr>
        </p:nvSpPr>
        <p:spPr>
          <a:xfrm>
            <a:off x="3962400" y="1600200"/>
            <a:ext cx="7620000" cy="4495800"/>
          </a:xfrm>
        </p:spPr>
        <p:txBody>
          <a:bodyPr vert="horz"/>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zh-TW" altLang="en-US" smtClean="0"/>
              <a:t>按一下以編輯母片標題樣式</a:t>
            </a:r>
            <a:endParaRPr kumimoji="0" lang="en-US"/>
          </a:p>
        </p:txBody>
      </p:sp>
      <p:sp>
        <p:nvSpPr>
          <p:cNvPr id="4" name="文字版面配置區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6" name="頁尾版面配置區 5"/>
          <p:cNvSpPr>
            <a:spLocks noGrp="1"/>
          </p:cNvSpPr>
          <p:nvPr>
            <p:ph type="ftr" sz="quarter" idx="11"/>
          </p:nvPr>
        </p:nvSpPr>
        <p:spPr>
          <a:xfrm>
            <a:off x="1219200" y="6172200"/>
            <a:ext cx="5181600" cy="457200"/>
          </a:xfrm>
        </p:spPr>
        <p:txBody>
          <a:bodyPr/>
          <a:lstStyle/>
          <a:p>
            <a:endParaRPr lang="en-US" dirty="0"/>
          </a:p>
        </p:txBody>
      </p:sp>
      <p:sp>
        <p:nvSpPr>
          <p:cNvPr id="7" name="投影片編號版面配置區 6"/>
          <p:cNvSpPr>
            <a:spLocks noGrp="1"/>
          </p:cNvSpPr>
          <p:nvPr>
            <p:ph type="sldNum" sz="quarter" idx="12"/>
          </p:nvPr>
        </p:nvSpPr>
        <p:spPr>
          <a:xfrm>
            <a:off x="195072" y="6208776"/>
            <a:ext cx="609600" cy="457200"/>
          </a:xfrm>
        </p:spPr>
        <p:txBody>
          <a:bodyPr/>
          <a:lstStyle/>
          <a:p>
            <a:fld id="{26C65FCD-9E66-451C-BB57-5069538F290E}" type="slidenum">
              <a:rPr lang="zh-TW" altLang="en-US" smtClean="0"/>
              <a:t>‹#›</a:t>
            </a:fld>
            <a:endParaRPr lang="zh-TW" altLang="en-US"/>
          </a:p>
        </p:txBody>
      </p:sp>
      <p:sp>
        <p:nvSpPr>
          <p:cNvPr id="11" name="矩形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圖片版面配置區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TW" altLang="en-US" smtClean="0"/>
              <a:t>按一下圖示以新增圖片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C65FCD-9E66-451C-BB57-5069538F290E}"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42"/>
            <a:ext cx="268224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1219200" y="274641"/>
            <a:ext cx="7416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DA2D3E4F-C3E7-463E-9B9F-CEBA0C548E1E}" type="datetimeFigureOut">
              <a:rPr lang="zh-TW" altLang="en-US" smtClean="0"/>
              <a:t>2018/4/17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C65FCD-9E66-451C-BB57-5069538F290E}"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圓角矩形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標題版面配置區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zh-TW" altLang="en-US" smtClean="0"/>
              <a:t>按一下以編輯母片標題樣式</a:t>
            </a:r>
            <a:endParaRPr kumimoji="0" lang="en-US"/>
          </a:p>
        </p:txBody>
      </p:sp>
      <p:sp>
        <p:nvSpPr>
          <p:cNvPr id="13" name="文字版面配置區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zh-TW" altLang="en-US" smtClean="0"/>
              <a:t>按一下以編輯母片文字樣式</a:t>
            </a:r>
          </a:p>
          <a:p>
            <a:pPr lvl="1" eaLnBrk="1" latinLnBrk="0" hangingPunct="1"/>
            <a:r>
              <a:rPr kumimoji="0" lang="zh-TW" altLang="en-US" smtClean="0"/>
              <a:t>第二層</a:t>
            </a:r>
          </a:p>
          <a:p>
            <a:pPr lvl="2" eaLnBrk="1" latinLnBrk="0" hangingPunct="1"/>
            <a:r>
              <a:rPr kumimoji="0" lang="zh-TW" altLang="en-US" smtClean="0"/>
              <a:t>第三層</a:t>
            </a:r>
          </a:p>
          <a:p>
            <a:pPr lvl="3" eaLnBrk="1" latinLnBrk="0" hangingPunct="1"/>
            <a:r>
              <a:rPr kumimoji="0" lang="zh-TW" altLang="en-US" smtClean="0"/>
              <a:t>第四層</a:t>
            </a:r>
          </a:p>
          <a:p>
            <a:pPr lvl="4" eaLnBrk="1" latinLnBrk="0" hangingPunct="1"/>
            <a:r>
              <a:rPr kumimoji="0" lang="zh-TW" altLang="en-US" smtClean="0"/>
              <a:t>第五層</a:t>
            </a:r>
            <a:endParaRPr kumimoji="0" lang="en-US"/>
          </a:p>
        </p:txBody>
      </p:sp>
      <p:sp>
        <p:nvSpPr>
          <p:cNvPr id="14" name="日期版面配置區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DA2D3E4F-C3E7-463E-9B9F-CEBA0C548E1E}" type="datetimeFigureOut">
              <a:rPr lang="zh-TW" altLang="en-US" smtClean="0"/>
              <a:t>2018/4/17</a:t>
            </a:fld>
            <a:endParaRPr lang="zh-TW" altLang="en-US"/>
          </a:p>
        </p:txBody>
      </p:sp>
      <p:sp>
        <p:nvSpPr>
          <p:cNvPr id="3" name="頁尾版面配置區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26C65FCD-9E66-451C-BB57-5069538F290E}"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917"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kkboxsqa.wordpress.com/2014/02/27/%E5%9B%9E%E6%AD%B8%E6%B8%AC%E8%A9%A6-regression-testing/" TargetMode="External"/><Relationship Id="rId2" Type="http://schemas.openxmlformats.org/officeDocument/2006/relationships/hyperlink" Target="https://kknews.cc/zh-tw/tech/zmkjnea.html" TargetMode="External"/><Relationship Id="rId1" Type="http://schemas.openxmlformats.org/officeDocument/2006/relationships/slideLayout" Target="../slideLayouts/slideLayout2.xml"/><Relationship Id="rId5" Type="http://schemas.openxmlformats.org/officeDocument/2006/relationships/hyperlink" Target="https://www.youtube.com/watch?v=vjxzSlUO99U" TargetMode="External"/><Relationship Id="rId4" Type="http://schemas.openxmlformats.org/officeDocument/2006/relationships/hyperlink" Target="https://files.cnblogs.com/files/testware/Getting_Started_with_TestComplete.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p:txBody>
          <a:bodyPr/>
          <a:lstStyle/>
          <a:p>
            <a:r>
              <a:rPr lang="en-US" altLang="zh-TW" dirty="0" smtClean="0">
                <a:latin typeface="微軟正黑體" panose="020B0604030504040204" pitchFamily="34" charset="-120"/>
                <a:ea typeface="微軟正黑體" panose="020B0604030504040204" pitchFamily="34" charset="-120"/>
              </a:rPr>
              <a:t>M0629001</a:t>
            </a:r>
            <a:r>
              <a:rPr lang="zh-TW" altLang="en-US" dirty="0" smtClean="0">
                <a:latin typeface="微軟正黑體" panose="020B0604030504040204" pitchFamily="34" charset="-120"/>
                <a:ea typeface="微軟正黑體" panose="020B0604030504040204" pitchFamily="34" charset="-120"/>
              </a:rPr>
              <a:t> 郭明彥</a:t>
            </a:r>
            <a:endParaRPr lang="zh-TW" altLang="en-US" dirty="0">
              <a:latin typeface="微軟正黑體" panose="020B0604030504040204" pitchFamily="34" charset="-120"/>
              <a:ea typeface="微軟正黑體" panose="020B0604030504040204" pitchFamily="34" charset="-120"/>
            </a:endParaRPr>
          </a:p>
        </p:txBody>
      </p:sp>
      <p:sp>
        <p:nvSpPr>
          <p:cNvPr id="2" name="標題 1"/>
          <p:cNvSpPr>
            <a:spLocks noGrp="1"/>
          </p:cNvSpPr>
          <p:nvPr>
            <p:ph type="ctrTitle"/>
          </p:nvPr>
        </p:nvSpPr>
        <p:spPr/>
        <p:txBody>
          <a:bodyPr/>
          <a:lstStyle/>
          <a:p>
            <a:r>
              <a:rPr lang="zh-TW" altLang="en-US" dirty="0" smtClean="0">
                <a:latin typeface="微軟正黑體" panose="020B0604030504040204" pitchFamily="34" charset="-120"/>
                <a:ea typeface="微軟正黑體" panose="020B0604030504040204" pitchFamily="34" charset="-120"/>
              </a:rPr>
              <a:t>軟體回歸</a:t>
            </a:r>
            <a:r>
              <a:rPr lang="en-US" altLang="zh-TW" dirty="0" smtClean="0">
                <a:latin typeface="微軟正黑體" panose="020B0604030504040204" pitchFamily="34" charset="-120"/>
                <a:ea typeface="微軟正黑體" panose="020B0604030504040204" pitchFamily="34" charset="-120"/>
              </a:rPr>
              <a:t/>
            </a:r>
            <a:br>
              <a:rPr lang="en-US" altLang="zh-TW" dirty="0" smtClean="0">
                <a:latin typeface="微軟正黑體" panose="020B0604030504040204" pitchFamily="34" charset="-120"/>
                <a:ea typeface="微軟正黑體" panose="020B0604030504040204" pitchFamily="34" charset="-120"/>
              </a:rPr>
            </a:b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回歸測試 操作</a:t>
            </a:r>
            <a:r>
              <a:rPr lang="en-US" altLang="zh-TW" dirty="0" smtClean="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2639114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微軟正黑體" panose="020B0604030504040204" pitchFamily="34" charset="-120"/>
                <a:ea typeface="微軟正黑體" panose="020B0604030504040204" pitchFamily="34" charset="-120"/>
              </a:rPr>
              <a:t>回歸測試</a:t>
            </a:r>
            <a:r>
              <a:rPr lang="en-US" altLang="zh-TW" dirty="0" smtClean="0">
                <a:latin typeface="微軟正黑體" panose="020B0604030504040204" pitchFamily="34" charset="-120"/>
                <a:ea typeface="微軟正黑體" panose="020B0604030504040204" pitchFamily="34" charset="-120"/>
              </a:rPr>
              <a:t>(Regression Testing)</a:t>
            </a:r>
            <a:endParaRPr lang="zh-TW" altLang="en-US" dirty="0">
              <a:latin typeface="微軟正黑體" panose="020B0604030504040204" pitchFamily="34" charset="-120"/>
              <a:ea typeface="微軟正黑體" panose="020B0604030504040204" pitchFamily="34" charset="-120"/>
            </a:endParaRPr>
          </a:p>
        </p:txBody>
      </p:sp>
      <p:sp>
        <p:nvSpPr>
          <p:cNvPr id="4" name="矩形 3"/>
          <p:cNvSpPr/>
          <p:nvPr/>
        </p:nvSpPr>
        <p:spPr>
          <a:xfrm>
            <a:off x="1187355" y="2834598"/>
            <a:ext cx="1501254" cy="2169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4000" dirty="0" smtClean="0">
                <a:solidFill>
                  <a:sysClr val="windowText" lastClr="000000"/>
                </a:solidFill>
                <a:latin typeface="+mj-ea"/>
                <a:ea typeface="+mj-ea"/>
              </a:rPr>
              <a:t>軟體</a:t>
            </a:r>
            <a:endParaRPr lang="zh-TW" altLang="en-US" sz="4000" dirty="0">
              <a:solidFill>
                <a:sysClr val="windowText" lastClr="000000"/>
              </a:solidFill>
              <a:latin typeface="+mj-ea"/>
              <a:ea typeface="+mj-ea"/>
            </a:endParaRPr>
          </a:p>
        </p:txBody>
      </p:sp>
      <p:sp>
        <p:nvSpPr>
          <p:cNvPr id="6" name="矩形 5"/>
          <p:cNvSpPr/>
          <p:nvPr/>
        </p:nvSpPr>
        <p:spPr>
          <a:xfrm>
            <a:off x="9231056" y="2834598"/>
            <a:ext cx="1501254" cy="2169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4000" dirty="0" smtClean="0">
                <a:solidFill>
                  <a:sysClr val="windowText" lastClr="000000"/>
                </a:solidFill>
                <a:latin typeface="+mj-ea"/>
                <a:ea typeface="+mj-ea"/>
              </a:rPr>
              <a:t>成品</a:t>
            </a:r>
            <a:endParaRPr lang="zh-TW" altLang="en-US" sz="4000" dirty="0">
              <a:solidFill>
                <a:sysClr val="windowText" lastClr="000000"/>
              </a:solidFill>
              <a:latin typeface="+mj-ea"/>
              <a:ea typeface="+mj-ea"/>
            </a:endParaRPr>
          </a:p>
        </p:txBody>
      </p:sp>
      <p:sp>
        <p:nvSpPr>
          <p:cNvPr id="13" name="向右箭號 12"/>
          <p:cNvSpPr/>
          <p:nvPr/>
        </p:nvSpPr>
        <p:spPr>
          <a:xfrm>
            <a:off x="3313408" y="2883503"/>
            <a:ext cx="5554638" cy="20721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smtClean="0">
                <a:latin typeface="標楷體" panose="03000509000000000000" pitchFamily="65" charset="-120"/>
                <a:ea typeface="標楷體" panose="03000509000000000000" pitchFamily="65" charset="-120"/>
              </a:rPr>
              <a:t>反覆編寫程式碼</a:t>
            </a:r>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24446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微軟正黑體" panose="020B0604030504040204" pitchFamily="34" charset="-120"/>
                <a:ea typeface="微軟正黑體" panose="020B0604030504040204" pitchFamily="34" charset="-120"/>
              </a:rPr>
              <a:t>回歸測試</a:t>
            </a:r>
            <a:r>
              <a:rPr lang="en-US" altLang="zh-TW" dirty="0" smtClean="0">
                <a:latin typeface="微軟正黑體" panose="020B0604030504040204" pitchFamily="34" charset="-120"/>
                <a:ea typeface="微軟正黑體" panose="020B0604030504040204" pitchFamily="34" charset="-120"/>
              </a:rPr>
              <a:t>(Regression Testing)</a:t>
            </a:r>
            <a:endParaRPr lang="zh-TW" altLang="en-US" dirty="0">
              <a:latin typeface="微軟正黑體" panose="020B0604030504040204" pitchFamily="34" charset="-120"/>
              <a:ea typeface="微軟正黑體" panose="020B0604030504040204" pitchFamily="34" charset="-120"/>
            </a:endParaRPr>
          </a:p>
        </p:txBody>
      </p:sp>
      <p:sp>
        <p:nvSpPr>
          <p:cNvPr id="4" name="矩形 3"/>
          <p:cNvSpPr/>
          <p:nvPr/>
        </p:nvSpPr>
        <p:spPr>
          <a:xfrm>
            <a:off x="1187355" y="2834598"/>
            <a:ext cx="1501254" cy="2169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4000" dirty="0" smtClean="0">
                <a:solidFill>
                  <a:sysClr val="windowText" lastClr="000000"/>
                </a:solidFill>
                <a:latin typeface="+mj-ea"/>
                <a:ea typeface="+mj-ea"/>
              </a:rPr>
              <a:t>軟體</a:t>
            </a:r>
            <a:endParaRPr lang="zh-TW" altLang="en-US" sz="4000" dirty="0">
              <a:solidFill>
                <a:sysClr val="windowText" lastClr="000000"/>
              </a:solidFill>
              <a:latin typeface="+mj-ea"/>
              <a:ea typeface="+mj-ea"/>
            </a:endParaRPr>
          </a:p>
        </p:txBody>
      </p:sp>
      <p:sp>
        <p:nvSpPr>
          <p:cNvPr id="6" name="矩形 5"/>
          <p:cNvSpPr/>
          <p:nvPr/>
        </p:nvSpPr>
        <p:spPr>
          <a:xfrm>
            <a:off x="9231056" y="2834598"/>
            <a:ext cx="1501254" cy="2169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4000" dirty="0" smtClean="0">
                <a:solidFill>
                  <a:sysClr val="windowText" lastClr="000000"/>
                </a:solidFill>
                <a:latin typeface="+mj-ea"/>
                <a:ea typeface="+mj-ea"/>
              </a:rPr>
              <a:t>成品</a:t>
            </a:r>
            <a:endParaRPr lang="zh-TW" altLang="en-US" sz="4000" dirty="0">
              <a:solidFill>
                <a:sysClr val="windowText" lastClr="000000"/>
              </a:solidFill>
              <a:latin typeface="+mj-ea"/>
              <a:ea typeface="+mj-ea"/>
            </a:endParaRPr>
          </a:p>
        </p:txBody>
      </p:sp>
      <p:sp>
        <p:nvSpPr>
          <p:cNvPr id="13" name="向右箭號 12"/>
          <p:cNvSpPr/>
          <p:nvPr/>
        </p:nvSpPr>
        <p:spPr>
          <a:xfrm>
            <a:off x="3313408" y="2883503"/>
            <a:ext cx="5554638" cy="20721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smtClean="0">
                <a:latin typeface="標楷體" panose="03000509000000000000" pitchFamily="65" charset="-120"/>
                <a:ea typeface="標楷體" panose="03000509000000000000" pitchFamily="65" charset="-120"/>
              </a:rPr>
              <a:t>反覆編寫程式碼</a:t>
            </a:r>
            <a:endParaRPr lang="zh-TW" altLang="en-US" sz="3600" dirty="0">
              <a:latin typeface="標楷體" panose="03000509000000000000" pitchFamily="65" charset="-120"/>
              <a:ea typeface="標楷體" panose="03000509000000000000" pitchFamily="65" charset="-120"/>
            </a:endParaRPr>
          </a:p>
        </p:txBody>
      </p:sp>
      <p:sp>
        <p:nvSpPr>
          <p:cNvPr id="3" name="七角星形 2"/>
          <p:cNvSpPr/>
          <p:nvPr/>
        </p:nvSpPr>
        <p:spPr>
          <a:xfrm>
            <a:off x="1187355" y="1371599"/>
            <a:ext cx="9601200" cy="4862945"/>
          </a:xfrm>
          <a:prstGeom prst="star7">
            <a:avLst/>
          </a:prstGeom>
          <a:solidFill>
            <a:schemeClr val="bg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6600" dirty="0" smtClean="0">
                <a:solidFill>
                  <a:sysClr val="windowText" lastClr="000000"/>
                </a:solidFill>
                <a:latin typeface="標楷體" panose="03000509000000000000" pitchFamily="65" charset="-120"/>
                <a:ea typeface="標楷體" panose="03000509000000000000" pitchFamily="65" charset="-120"/>
              </a:rPr>
              <a:t>回歸測試</a:t>
            </a:r>
            <a:endParaRPr lang="zh-TW" altLang="en-US" sz="6600" dirty="0">
              <a:solidFill>
                <a:sysClr val="windowText" lastClr="0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54431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微軟正黑體" panose="020B0604030504040204" pitchFamily="34" charset="-120"/>
                <a:ea typeface="微軟正黑體" panose="020B0604030504040204" pitchFamily="34" charset="-120"/>
              </a:rPr>
              <a:t>回歸測試</a:t>
            </a:r>
            <a:r>
              <a:rPr lang="zh-TW" altLang="en-US" dirty="0">
                <a:latin typeface="微軟正黑體" panose="020B0604030504040204" pitchFamily="34" charset="-120"/>
                <a:ea typeface="微軟正黑體" panose="020B0604030504040204" pitchFamily="34" charset="-120"/>
              </a:rPr>
              <a:t>策略</a:t>
            </a:r>
          </a:p>
        </p:txBody>
      </p:sp>
      <p:pic>
        <p:nvPicPr>
          <p:cNvPr id="19458"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264211" y="1233714"/>
            <a:ext cx="9592475" cy="5355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512476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微軟正黑體" panose="020B0604030504040204" pitchFamily="34" charset="-120"/>
                <a:ea typeface="微軟正黑體" panose="020B0604030504040204" pitchFamily="34" charset="-120"/>
              </a:rPr>
              <a:t>回歸測試軟體</a:t>
            </a:r>
            <a:endParaRPr lang="zh-TW" altLang="en-US"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sz="quarter" idx="1"/>
          </p:nvPr>
        </p:nvSpPr>
        <p:spPr/>
        <p:txBody>
          <a:bodyPr/>
          <a:lstStyle/>
          <a:p>
            <a:r>
              <a:rPr lang="en-US" altLang="zh-TW" dirty="0" smtClean="0">
                <a:latin typeface="微軟正黑體" panose="020B0604030504040204" pitchFamily="34" charset="-120"/>
                <a:ea typeface="微軟正黑體" panose="020B0604030504040204" pitchFamily="34" charset="-120"/>
              </a:rPr>
              <a:t>1.Sahi Pro</a:t>
            </a:r>
            <a:r>
              <a:rPr lang="en-US" altLang="zh-TW" dirty="0">
                <a:latin typeface="微軟正黑體" panose="020B0604030504040204" pitchFamily="34" charset="-120"/>
                <a:ea typeface="微軟正黑體" panose="020B0604030504040204" pitchFamily="34" charset="-120"/>
              </a:rPr>
              <a:t/>
            </a:r>
            <a:br>
              <a:rPr lang="en-US" altLang="zh-TW" dirty="0">
                <a:latin typeface="微軟正黑體" panose="020B0604030504040204" pitchFamily="34" charset="-120"/>
                <a:ea typeface="微軟正黑體" panose="020B0604030504040204" pitchFamily="34" charset="-120"/>
              </a:rPr>
            </a:br>
            <a:endParaRPr lang="en-US" altLang="zh-TW" dirty="0" smtClean="0">
              <a:latin typeface="微軟正黑體" panose="020B0604030504040204" pitchFamily="34" charset="-120"/>
              <a:ea typeface="微軟正黑體" panose="020B0604030504040204" pitchFamily="34" charset="-120"/>
            </a:endParaRPr>
          </a:p>
          <a:p>
            <a:r>
              <a:rPr lang="en-US" altLang="zh-TW" dirty="0" smtClean="0">
                <a:latin typeface="微軟正黑體" panose="020B0604030504040204" pitchFamily="34" charset="-120"/>
                <a:ea typeface="微軟正黑體" panose="020B0604030504040204" pitchFamily="34" charset="-120"/>
              </a:rPr>
              <a:t>2.Test Complete</a:t>
            </a:r>
            <a:br>
              <a:rPr lang="en-US" altLang="zh-TW" dirty="0" smtClean="0">
                <a:latin typeface="微軟正黑體" panose="020B0604030504040204" pitchFamily="34" charset="-120"/>
                <a:ea typeface="微軟正黑體" panose="020B0604030504040204" pitchFamily="34" charset="-120"/>
              </a:rPr>
            </a:br>
            <a:endParaRPr lang="en-US" altLang="zh-TW" dirty="0" smtClean="0">
              <a:latin typeface="微軟正黑體" panose="020B0604030504040204" pitchFamily="34" charset="-120"/>
              <a:ea typeface="微軟正黑體" panose="020B0604030504040204" pitchFamily="34" charset="-120"/>
            </a:endParaRPr>
          </a:p>
          <a:p>
            <a:r>
              <a:rPr lang="en-US" altLang="zh-TW" dirty="0" smtClean="0">
                <a:latin typeface="微軟正黑體" panose="020B0604030504040204" pitchFamily="34" charset="-120"/>
                <a:ea typeface="微軟正黑體" panose="020B0604030504040204" pitchFamily="34" charset="-120"/>
              </a:rPr>
              <a:t>3.Silk Test</a:t>
            </a:r>
            <a:br>
              <a:rPr lang="en-US" altLang="zh-TW" dirty="0" smtClean="0">
                <a:latin typeface="微軟正黑體" panose="020B0604030504040204" pitchFamily="34" charset="-120"/>
                <a:ea typeface="微軟正黑體" panose="020B0604030504040204" pitchFamily="34" charset="-120"/>
              </a:rPr>
            </a:br>
            <a:endParaRPr lang="en-US" altLang="zh-TW" dirty="0" smtClean="0">
              <a:latin typeface="微軟正黑體" panose="020B0604030504040204" pitchFamily="34" charset="-120"/>
              <a:ea typeface="微軟正黑體" panose="020B0604030504040204" pitchFamily="34" charset="-120"/>
            </a:endParaRPr>
          </a:p>
          <a:p>
            <a:r>
              <a:rPr lang="en-US" altLang="zh-TW" dirty="0" smtClean="0">
                <a:latin typeface="微軟正黑體" panose="020B0604030504040204" pitchFamily="34" charset="-120"/>
                <a:ea typeface="微軟正黑體" panose="020B0604030504040204" pitchFamily="34" charset="-120"/>
              </a:rPr>
              <a:t>4.IBM Rational Functional Tester</a:t>
            </a: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6683" y="1280134"/>
            <a:ext cx="4963026" cy="12077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430" y="4552950"/>
            <a:ext cx="4991100"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8207" y="4751220"/>
            <a:ext cx="6132134" cy="16495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12" descr="C:\Users\USER\Desktop\下載.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2115" y="2579059"/>
            <a:ext cx="2172161" cy="2172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8691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700087" y="1462087"/>
            <a:ext cx="10791825" cy="3933825"/>
          </a:xfrm>
          <a:prstGeom prst="rect">
            <a:avLst/>
          </a:prstGeom>
        </p:spPr>
      </p:pic>
      <p:pic>
        <p:nvPicPr>
          <p:cNvPr id="2" name="圖片 1"/>
          <p:cNvPicPr>
            <a:picLocks noChangeAspect="1"/>
          </p:cNvPicPr>
          <p:nvPr/>
        </p:nvPicPr>
        <p:blipFill>
          <a:blip r:embed="rId3"/>
          <a:stretch>
            <a:fillRect/>
          </a:stretch>
        </p:blipFill>
        <p:spPr>
          <a:xfrm>
            <a:off x="5537309" y="655090"/>
            <a:ext cx="5626160" cy="5682648"/>
          </a:xfrm>
          <a:prstGeom prst="rect">
            <a:avLst/>
          </a:prstGeom>
        </p:spPr>
      </p:pic>
    </p:spTree>
    <p:extLst>
      <p:ext uri="{BB962C8B-B14F-4D97-AF65-F5344CB8AC3E}">
        <p14:creationId xmlns:p14="http://schemas.microsoft.com/office/powerpoint/2010/main" val="45538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rotWithShape="1">
          <a:blip r:embed="rId2"/>
          <a:srcRect r="33503"/>
          <a:stretch/>
        </p:blipFill>
        <p:spPr>
          <a:xfrm>
            <a:off x="228764" y="605822"/>
            <a:ext cx="5163043" cy="5558495"/>
          </a:xfrm>
          <a:prstGeom prst="rect">
            <a:avLst/>
          </a:prstGeom>
        </p:spPr>
      </p:pic>
      <p:pic>
        <p:nvPicPr>
          <p:cNvPr id="5" name="圖片 4"/>
          <p:cNvPicPr>
            <a:picLocks noChangeAspect="1"/>
          </p:cNvPicPr>
          <p:nvPr/>
        </p:nvPicPr>
        <p:blipFill>
          <a:blip r:embed="rId3"/>
          <a:stretch>
            <a:fillRect/>
          </a:stretch>
        </p:blipFill>
        <p:spPr>
          <a:xfrm>
            <a:off x="6025364" y="833273"/>
            <a:ext cx="5696525" cy="585624"/>
          </a:xfrm>
          <a:prstGeom prst="rect">
            <a:avLst/>
          </a:prstGeom>
        </p:spPr>
      </p:pic>
      <p:pic>
        <p:nvPicPr>
          <p:cNvPr id="6" name="圖片 5"/>
          <p:cNvPicPr>
            <a:picLocks noChangeAspect="1"/>
          </p:cNvPicPr>
          <p:nvPr/>
        </p:nvPicPr>
        <p:blipFill>
          <a:blip r:embed="rId4"/>
          <a:stretch>
            <a:fillRect/>
          </a:stretch>
        </p:blipFill>
        <p:spPr>
          <a:xfrm>
            <a:off x="5849333" y="1875767"/>
            <a:ext cx="6048589" cy="4288549"/>
          </a:xfrm>
          <a:prstGeom prst="rect">
            <a:avLst/>
          </a:prstGeom>
        </p:spPr>
      </p:pic>
      <p:pic>
        <p:nvPicPr>
          <p:cNvPr id="7" name="圖片 6"/>
          <p:cNvPicPr>
            <a:picLocks noChangeAspect="1"/>
          </p:cNvPicPr>
          <p:nvPr/>
        </p:nvPicPr>
        <p:blipFill>
          <a:blip r:embed="rId5"/>
          <a:stretch>
            <a:fillRect/>
          </a:stretch>
        </p:blipFill>
        <p:spPr>
          <a:xfrm>
            <a:off x="5470637" y="833273"/>
            <a:ext cx="695325" cy="914400"/>
          </a:xfrm>
          <a:prstGeom prst="rect">
            <a:avLst/>
          </a:prstGeom>
        </p:spPr>
      </p:pic>
    </p:spTree>
    <p:extLst>
      <p:ext uri="{BB962C8B-B14F-4D97-AF65-F5344CB8AC3E}">
        <p14:creationId xmlns:p14="http://schemas.microsoft.com/office/powerpoint/2010/main" val="1212127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微軟正黑體" panose="020B0604030504040204" pitchFamily="34" charset="-120"/>
                <a:ea typeface="微軟正黑體" panose="020B0604030504040204" pitchFamily="34" charset="-120"/>
              </a:rPr>
              <a:t>SahiPro</a:t>
            </a:r>
            <a:endParaRPr lang="zh-TW" altLang="en-US" dirty="0">
              <a:latin typeface="微軟正黑體" panose="020B0604030504040204" pitchFamily="34" charset="-120"/>
              <a:ea typeface="微軟正黑體" panose="020B0604030504040204" pitchFamily="34" charset="-12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812" y="1603513"/>
            <a:ext cx="2610204" cy="5017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直線單箭頭接點 4"/>
          <p:cNvCxnSpPr/>
          <p:nvPr/>
        </p:nvCxnSpPr>
        <p:spPr>
          <a:xfrm>
            <a:off x="2902226" y="3074505"/>
            <a:ext cx="1656522" cy="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8747" y="1603513"/>
            <a:ext cx="7125977" cy="4635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4558746" y="476179"/>
            <a:ext cx="3493053" cy="72887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smtClean="0">
                <a:solidFill>
                  <a:sysClr val="windowText" lastClr="000000"/>
                </a:solidFill>
                <a:latin typeface="標楷體" panose="03000509000000000000" pitchFamily="65" charset="-120"/>
                <a:ea typeface="標楷體" panose="03000509000000000000" pitchFamily="65" charset="-120"/>
              </a:rPr>
              <a:t>需要安裝</a:t>
            </a:r>
            <a:r>
              <a:rPr lang="en-US" altLang="zh-TW" sz="3600" dirty="0" smtClean="0">
                <a:solidFill>
                  <a:sysClr val="windowText" lastClr="000000"/>
                </a:solidFill>
                <a:latin typeface="標楷體" panose="03000509000000000000" pitchFamily="65" charset="-120"/>
                <a:ea typeface="標楷體" panose="03000509000000000000" pitchFamily="65" charset="-120"/>
              </a:rPr>
              <a:t>JDK!!!</a:t>
            </a:r>
            <a:endParaRPr lang="zh-TW" altLang="en-US" sz="3600" dirty="0">
              <a:solidFill>
                <a:sysClr val="windowText" lastClr="0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932337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670290" y="128907"/>
            <a:ext cx="4851937" cy="65965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7050154" y="1669772"/>
            <a:ext cx="2040836" cy="2385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5804450" y="2093844"/>
            <a:ext cx="4532245" cy="1696278"/>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F0"/>
              </a:solidFill>
            </a:endParaRPr>
          </a:p>
        </p:txBody>
      </p:sp>
      <p:sp>
        <p:nvSpPr>
          <p:cNvPr id="4" name="文字方塊 3"/>
          <p:cNvSpPr txBox="1"/>
          <p:nvPr/>
        </p:nvSpPr>
        <p:spPr>
          <a:xfrm>
            <a:off x="874643" y="613919"/>
            <a:ext cx="306125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TW" altLang="en-US" dirty="0" smtClean="0">
                <a:latin typeface="標楷體" panose="03000509000000000000" pitchFamily="65" charset="-120"/>
                <a:ea typeface="標楷體" panose="03000509000000000000" pitchFamily="65" charset="-120"/>
              </a:rPr>
              <a:t>網頁</a:t>
            </a:r>
            <a:r>
              <a:rPr lang="en-US" altLang="zh-TW" dirty="0" smtClean="0">
                <a:latin typeface="標楷體" panose="03000509000000000000" pitchFamily="65" charset="-120"/>
                <a:ea typeface="標楷體" panose="03000509000000000000" pitchFamily="65" charset="-120"/>
              </a:rPr>
              <a:t>Alt + </a:t>
            </a:r>
            <a:r>
              <a:rPr lang="zh-TW" altLang="en-US" dirty="0" smtClean="0">
                <a:latin typeface="標楷體" panose="03000509000000000000" pitchFamily="65" charset="-120"/>
                <a:ea typeface="標楷體" panose="03000509000000000000" pitchFamily="65" charset="-120"/>
              </a:rPr>
              <a:t>左鍵</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下</a:t>
            </a:r>
            <a:endParaRPr lang="zh-TW" altLang="en-US" dirty="0">
              <a:latin typeface="標楷體" panose="03000509000000000000" pitchFamily="65" charset="-120"/>
              <a:ea typeface="標楷體" panose="03000509000000000000" pitchFamily="65" charset="-120"/>
            </a:endParaRPr>
          </a:p>
        </p:txBody>
      </p:sp>
      <p:sp>
        <p:nvSpPr>
          <p:cNvPr id="7" name="向右箭號 6"/>
          <p:cNvSpPr/>
          <p:nvPr/>
        </p:nvSpPr>
        <p:spPr>
          <a:xfrm>
            <a:off x="4094922" y="706252"/>
            <a:ext cx="1404730"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874643" y="1789041"/>
            <a:ext cx="3339548" cy="72887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smtClean="0">
                <a:solidFill>
                  <a:sysClr val="windowText" lastClr="000000"/>
                </a:solidFill>
                <a:latin typeface="標楷體" panose="03000509000000000000" pitchFamily="65" charset="-120"/>
                <a:ea typeface="標楷體" panose="03000509000000000000" pitchFamily="65" charset="-120"/>
              </a:rPr>
              <a:t>輸出檔案名稱</a:t>
            </a:r>
            <a:endParaRPr lang="zh-TW" altLang="en-US" sz="3600" dirty="0">
              <a:solidFill>
                <a:sysClr val="windowText" lastClr="000000"/>
              </a:solidFill>
              <a:latin typeface="標楷體" panose="03000509000000000000" pitchFamily="65" charset="-120"/>
              <a:ea typeface="標楷體" panose="03000509000000000000" pitchFamily="65" charset="-120"/>
            </a:endParaRPr>
          </a:p>
        </p:txBody>
      </p:sp>
      <p:cxnSp>
        <p:nvCxnSpPr>
          <p:cNvPr id="10" name="直線單箭頭接點 9"/>
          <p:cNvCxnSpPr>
            <a:stCxn id="5" idx="1"/>
            <a:endCxn id="8" idx="3"/>
          </p:cNvCxnSpPr>
          <p:nvPr/>
        </p:nvCxnSpPr>
        <p:spPr>
          <a:xfrm flipH="1">
            <a:off x="4214191" y="1789042"/>
            <a:ext cx="2835963" cy="3644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874643" y="3770244"/>
            <a:ext cx="3339548" cy="728872"/>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smtClean="0">
                <a:solidFill>
                  <a:sysClr val="windowText" lastClr="000000"/>
                </a:solidFill>
                <a:latin typeface="標楷體" panose="03000509000000000000" pitchFamily="65" charset="-120"/>
                <a:ea typeface="標楷體" panose="03000509000000000000" pitchFamily="65" charset="-120"/>
              </a:rPr>
              <a:t>※</a:t>
            </a:r>
            <a:r>
              <a:rPr lang="zh-TW" altLang="en-US" sz="3600" dirty="0" smtClean="0">
                <a:solidFill>
                  <a:sysClr val="windowText" lastClr="000000"/>
                </a:solidFill>
                <a:latin typeface="標楷體" panose="03000509000000000000" pitchFamily="65" charset="-120"/>
                <a:ea typeface="標楷體" panose="03000509000000000000" pitchFamily="65" charset="-120"/>
              </a:rPr>
              <a:t>特殊窗格</a:t>
            </a:r>
            <a:endParaRPr lang="zh-TW" altLang="en-US" sz="3600" dirty="0">
              <a:solidFill>
                <a:sysClr val="windowText" lastClr="000000"/>
              </a:solidFill>
              <a:latin typeface="標楷體" panose="03000509000000000000" pitchFamily="65" charset="-120"/>
              <a:ea typeface="標楷體" panose="03000509000000000000" pitchFamily="65" charset="-120"/>
            </a:endParaRPr>
          </a:p>
        </p:txBody>
      </p:sp>
      <p:cxnSp>
        <p:nvCxnSpPr>
          <p:cNvPr id="13" name="直線單箭頭接點 12"/>
          <p:cNvCxnSpPr>
            <a:stCxn id="6" idx="1"/>
            <a:endCxn id="12" idx="3"/>
          </p:cNvCxnSpPr>
          <p:nvPr/>
        </p:nvCxnSpPr>
        <p:spPr>
          <a:xfrm flipH="1">
            <a:off x="4214191" y="2941983"/>
            <a:ext cx="1590259" cy="119269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5836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935" y="748330"/>
            <a:ext cx="6802870" cy="5175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7712765" y="1172818"/>
            <a:ext cx="3339548" cy="4485860"/>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smtClean="0">
                <a:solidFill>
                  <a:sysClr val="windowText" lastClr="000000"/>
                </a:solidFill>
                <a:latin typeface="標楷體" panose="03000509000000000000" pitchFamily="65" charset="-120"/>
                <a:ea typeface="標楷體" panose="03000509000000000000" pitchFamily="65" charset="-120"/>
              </a:rPr>
              <a:t>測試網頁：</a:t>
            </a:r>
            <a:endParaRPr lang="en-US" altLang="zh-TW" sz="3600" dirty="0" smtClean="0">
              <a:solidFill>
                <a:sysClr val="windowText" lastClr="000000"/>
              </a:solidFill>
              <a:latin typeface="標楷體" panose="03000509000000000000" pitchFamily="65" charset="-120"/>
              <a:ea typeface="標楷體" panose="03000509000000000000" pitchFamily="65" charset="-120"/>
            </a:endParaRPr>
          </a:p>
          <a:p>
            <a:pPr algn="ctr"/>
            <a:r>
              <a:rPr lang="en-US" altLang="zh-TW" sz="3600" dirty="0" smtClean="0">
                <a:solidFill>
                  <a:sysClr val="windowText" lastClr="000000"/>
                </a:solidFill>
                <a:latin typeface="標楷體" panose="03000509000000000000" pitchFamily="65" charset="-120"/>
                <a:ea typeface="標楷體" panose="03000509000000000000" pitchFamily="65" charset="-120"/>
              </a:rPr>
              <a:t>1.</a:t>
            </a:r>
            <a:r>
              <a:rPr lang="zh-TW" altLang="en-US" sz="3600" dirty="0" smtClean="0">
                <a:solidFill>
                  <a:sysClr val="windowText" lastClr="000000"/>
                </a:solidFill>
                <a:latin typeface="標楷體" panose="03000509000000000000" pitchFamily="65" charset="-120"/>
                <a:ea typeface="標楷體" panose="03000509000000000000" pitchFamily="65" charset="-120"/>
              </a:rPr>
              <a:t>登入帳密</a:t>
            </a:r>
            <a:endParaRPr lang="en-US" altLang="zh-TW" sz="3600" dirty="0" smtClean="0">
              <a:solidFill>
                <a:sysClr val="windowText" lastClr="000000"/>
              </a:solidFill>
              <a:latin typeface="標楷體" panose="03000509000000000000" pitchFamily="65" charset="-120"/>
              <a:ea typeface="標楷體" panose="03000509000000000000" pitchFamily="65" charset="-120"/>
            </a:endParaRPr>
          </a:p>
          <a:p>
            <a:pPr algn="ctr"/>
            <a:r>
              <a:rPr lang="en-US" altLang="zh-TW" sz="3600" dirty="0" smtClean="0">
                <a:solidFill>
                  <a:sysClr val="windowText" lastClr="000000"/>
                </a:solidFill>
                <a:latin typeface="標楷體" panose="03000509000000000000" pitchFamily="65" charset="-120"/>
                <a:ea typeface="標楷體" panose="03000509000000000000" pitchFamily="65" charset="-120"/>
              </a:rPr>
              <a:t>2.</a:t>
            </a:r>
            <a:r>
              <a:rPr lang="zh-TW" altLang="en-US" sz="3600" dirty="0" smtClean="0">
                <a:solidFill>
                  <a:sysClr val="windowText" lastClr="000000"/>
                </a:solidFill>
                <a:latin typeface="標楷體" panose="03000509000000000000" pitchFamily="65" charset="-120"/>
                <a:ea typeface="標楷體" panose="03000509000000000000" pitchFamily="65" charset="-120"/>
              </a:rPr>
              <a:t>進入另一頁面製作特殊窗格</a:t>
            </a:r>
            <a:r>
              <a:rPr lang="en-US" altLang="zh-TW" sz="3600" dirty="0" smtClean="0">
                <a:solidFill>
                  <a:sysClr val="windowText" lastClr="000000"/>
                </a:solidFill>
                <a:latin typeface="標楷體" panose="03000509000000000000" pitchFamily="65" charset="-120"/>
                <a:ea typeface="標楷體" panose="03000509000000000000" pitchFamily="65" charset="-120"/>
              </a:rPr>
              <a:t>(</a:t>
            </a:r>
            <a:r>
              <a:rPr lang="zh-TW" altLang="en-US" sz="3600" dirty="0" smtClean="0">
                <a:solidFill>
                  <a:sysClr val="windowText" lastClr="000000"/>
                </a:solidFill>
                <a:latin typeface="標楷體" panose="03000509000000000000" pitchFamily="65" charset="-120"/>
                <a:ea typeface="標楷體" panose="03000509000000000000" pitchFamily="65" charset="-120"/>
              </a:rPr>
              <a:t>核對變更</a:t>
            </a:r>
            <a:r>
              <a:rPr lang="en-US" altLang="zh-TW" sz="3600" dirty="0" smtClean="0">
                <a:solidFill>
                  <a:sysClr val="windowText" lastClr="000000"/>
                </a:solidFill>
                <a:latin typeface="標楷體" panose="03000509000000000000" pitchFamily="65" charset="-120"/>
                <a:ea typeface="標楷體" panose="03000509000000000000" pitchFamily="65" charset="-120"/>
              </a:rPr>
              <a:t>)</a:t>
            </a:r>
            <a:endParaRPr lang="en-US" altLang="zh-TW" sz="3600" dirty="0">
              <a:solidFill>
                <a:sysClr val="windowText" lastClr="000000"/>
              </a:solidFill>
              <a:latin typeface="標楷體" panose="03000509000000000000" pitchFamily="65" charset="-120"/>
              <a:ea typeface="標楷體" panose="03000509000000000000" pitchFamily="65" charset="-120"/>
            </a:endParaRPr>
          </a:p>
          <a:p>
            <a:pPr algn="ctr"/>
            <a:endParaRPr lang="en-US" altLang="zh-TW" sz="3600" dirty="0" smtClean="0">
              <a:solidFill>
                <a:sysClr val="windowText" lastClr="000000"/>
              </a:solidFill>
              <a:latin typeface="標楷體" panose="03000509000000000000" pitchFamily="65" charset="-120"/>
              <a:ea typeface="標楷體" panose="03000509000000000000" pitchFamily="65" charset="-120"/>
            </a:endParaRPr>
          </a:p>
          <a:p>
            <a:pPr algn="ctr"/>
            <a:endParaRPr lang="zh-TW" altLang="en-US" sz="3600" dirty="0">
              <a:solidFill>
                <a:sysClr val="windowText" lastClr="0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7129140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05" y="270220"/>
            <a:ext cx="4722329" cy="63861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2012050" y="1752643"/>
            <a:ext cx="2573201" cy="2385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7132240" y="1871912"/>
            <a:ext cx="3986334" cy="227601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a:solidFill>
                  <a:sysClr val="windowText" lastClr="000000"/>
                </a:solidFill>
                <a:latin typeface="標楷體" panose="03000509000000000000" pitchFamily="65" charset="-120"/>
                <a:ea typeface="標楷體" panose="03000509000000000000" pitchFamily="65" charset="-120"/>
              </a:rPr>
              <a:t>檔名需為</a:t>
            </a:r>
            <a:r>
              <a:rPr lang="en-US" altLang="zh-TW" sz="3600" dirty="0">
                <a:solidFill>
                  <a:sysClr val="windowText" lastClr="000000"/>
                </a:solidFill>
                <a:latin typeface="標楷體" panose="03000509000000000000" pitchFamily="65" charset="-120"/>
                <a:ea typeface="標楷體" panose="03000509000000000000" pitchFamily="65" charset="-120"/>
              </a:rPr>
              <a:t>.</a:t>
            </a:r>
            <a:r>
              <a:rPr lang="en-US" altLang="zh-TW" sz="3600" dirty="0" err="1" smtClean="0">
                <a:solidFill>
                  <a:sysClr val="windowText" lastClr="000000"/>
                </a:solidFill>
                <a:latin typeface="標楷體" panose="03000509000000000000" pitchFamily="65" charset="-120"/>
                <a:ea typeface="標楷體" panose="03000509000000000000" pitchFamily="65" charset="-120"/>
              </a:rPr>
              <a:t>sah</a:t>
            </a:r>
            <a:r>
              <a:rPr lang="en-US" altLang="zh-TW" sz="3600" dirty="0" smtClean="0">
                <a:solidFill>
                  <a:sysClr val="windowText" lastClr="000000"/>
                </a:solidFill>
                <a:latin typeface="標楷體" panose="03000509000000000000" pitchFamily="65" charset="-120"/>
                <a:ea typeface="標楷體" panose="03000509000000000000" pitchFamily="65" charset="-120"/>
              </a:rPr>
              <a:t/>
            </a:r>
            <a:br>
              <a:rPr lang="en-US" altLang="zh-TW" sz="3600" dirty="0" smtClean="0">
                <a:solidFill>
                  <a:sysClr val="windowText" lastClr="000000"/>
                </a:solidFill>
                <a:latin typeface="標楷體" panose="03000509000000000000" pitchFamily="65" charset="-120"/>
                <a:ea typeface="標楷體" panose="03000509000000000000" pitchFamily="65" charset="-120"/>
              </a:rPr>
            </a:br>
            <a:r>
              <a:rPr lang="en-US" altLang="zh-TW" sz="3600" dirty="0" smtClean="0">
                <a:solidFill>
                  <a:sysClr val="windowText" lastClr="000000"/>
                </a:solidFill>
                <a:latin typeface="標楷體" panose="03000509000000000000" pitchFamily="65" charset="-120"/>
                <a:ea typeface="標楷體" panose="03000509000000000000" pitchFamily="65" charset="-120"/>
              </a:rPr>
              <a:t>(</a:t>
            </a:r>
            <a:r>
              <a:rPr lang="zh-TW" altLang="en-US" sz="3600" dirty="0" smtClean="0">
                <a:solidFill>
                  <a:sysClr val="windowText" lastClr="000000"/>
                </a:solidFill>
                <a:latin typeface="標楷體" panose="03000509000000000000" pitchFamily="65" charset="-120"/>
                <a:ea typeface="標楷體" panose="03000509000000000000" pitchFamily="65" charset="-120"/>
              </a:rPr>
              <a:t>按下</a:t>
            </a:r>
            <a:r>
              <a:rPr lang="en-US" altLang="zh-TW" sz="3600" dirty="0" smtClean="0">
                <a:solidFill>
                  <a:sysClr val="windowText" lastClr="000000"/>
                </a:solidFill>
                <a:latin typeface="標楷體" panose="03000509000000000000" pitchFamily="65" charset="-120"/>
                <a:ea typeface="標楷體" panose="03000509000000000000" pitchFamily="65" charset="-120"/>
              </a:rPr>
              <a:t>Record</a:t>
            </a:r>
            <a:r>
              <a:rPr lang="zh-TW" altLang="en-US" sz="3600" dirty="0" smtClean="0">
                <a:solidFill>
                  <a:sysClr val="windowText" lastClr="000000"/>
                </a:solidFill>
                <a:latin typeface="標楷體" panose="03000509000000000000" pitchFamily="65" charset="-120"/>
                <a:ea typeface="標楷體" panose="03000509000000000000" pitchFamily="65" charset="-120"/>
              </a:rPr>
              <a:t>開始記錄</a:t>
            </a:r>
            <a:r>
              <a:rPr lang="en-US" altLang="zh-TW" sz="3600" dirty="0" smtClean="0">
                <a:solidFill>
                  <a:sysClr val="windowText" lastClr="000000"/>
                </a:solidFill>
                <a:latin typeface="標楷體" panose="03000509000000000000" pitchFamily="65" charset="-120"/>
                <a:ea typeface="標楷體" panose="03000509000000000000" pitchFamily="65" charset="-120"/>
              </a:rPr>
              <a:t>)</a:t>
            </a:r>
            <a:endParaRPr lang="zh-TW" altLang="en-US" sz="3600" dirty="0">
              <a:solidFill>
                <a:sysClr val="windowText" lastClr="000000"/>
              </a:solidFill>
              <a:latin typeface="標楷體" panose="03000509000000000000" pitchFamily="65" charset="-120"/>
              <a:ea typeface="標楷體" panose="03000509000000000000" pitchFamily="65" charset="-120"/>
            </a:endParaRPr>
          </a:p>
        </p:txBody>
      </p:sp>
      <p:cxnSp>
        <p:nvCxnSpPr>
          <p:cNvPr id="8" name="直線單箭頭接點 7"/>
          <p:cNvCxnSpPr>
            <a:stCxn id="6" idx="3"/>
            <a:endCxn id="7" idx="1"/>
          </p:cNvCxnSpPr>
          <p:nvPr/>
        </p:nvCxnSpPr>
        <p:spPr>
          <a:xfrm>
            <a:off x="4585251" y="1871913"/>
            <a:ext cx="2546989" cy="113800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0498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85" y="913366"/>
            <a:ext cx="6348206" cy="530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26960"/>
            <a:ext cx="5921648" cy="2253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72408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84" y="329646"/>
            <a:ext cx="6226451" cy="6345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3760" y="1342355"/>
            <a:ext cx="4466603" cy="4320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35815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82" y="289889"/>
            <a:ext cx="6226451" cy="6345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021496" y="5989983"/>
            <a:ext cx="1895061" cy="26504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單箭頭接點 6"/>
          <p:cNvCxnSpPr>
            <a:stCxn id="5" idx="3"/>
          </p:cNvCxnSpPr>
          <p:nvPr/>
        </p:nvCxnSpPr>
        <p:spPr>
          <a:xfrm flipV="1">
            <a:off x="4916557" y="1298713"/>
            <a:ext cx="2319130" cy="482379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235686" y="702365"/>
            <a:ext cx="3803374" cy="14179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a:solidFill>
                  <a:schemeClr val="tx1"/>
                </a:solidFill>
                <a:latin typeface="標楷體" panose="03000509000000000000" pitchFamily="65" charset="-120"/>
                <a:ea typeface="標楷體" panose="03000509000000000000" pitchFamily="65" charset="-120"/>
              </a:rPr>
              <a:t>今天要</a:t>
            </a:r>
            <a:r>
              <a:rPr lang="zh-TW" altLang="en-US" sz="2800" dirty="0" smtClean="0">
                <a:solidFill>
                  <a:schemeClr val="tx1"/>
                </a:solidFill>
                <a:latin typeface="標楷體" panose="03000509000000000000" pitchFamily="65" charset="-120"/>
                <a:ea typeface="標楷體" panose="03000509000000000000" pitchFamily="65" charset="-120"/>
              </a:rPr>
              <a:t>針對</a:t>
            </a:r>
            <a:r>
              <a:rPr lang="en-US" altLang="zh-TW" sz="2800" dirty="0" smtClean="0">
                <a:solidFill>
                  <a:schemeClr val="tx1"/>
                </a:solidFill>
                <a:latin typeface="標楷體" panose="03000509000000000000" pitchFamily="65" charset="-120"/>
                <a:ea typeface="標楷體" panose="03000509000000000000" pitchFamily="65" charset="-120"/>
              </a:rPr>
              <a:t>1650</a:t>
            </a:r>
            <a:r>
              <a:rPr lang="zh-TW" altLang="en-US" sz="2800" dirty="0" smtClean="0">
                <a:solidFill>
                  <a:schemeClr val="tx1"/>
                </a:solidFill>
                <a:latin typeface="標楷體" panose="03000509000000000000" pitchFamily="65" charset="-120"/>
                <a:ea typeface="標楷體" panose="03000509000000000000" pitchFamily="65" charset="-120"/>
              </a:rPr>
              <a:t>這個結果當作特殊窗格</a:t>
            </a:r>
            <a:endParaRPr lang="zh-TW" altLang="en-US" sz="2800" dirty="0">
              <a:solidFill>
                <a:schemeClr val="tx1"/>
              </a:solidFill>
              <a:latin typeface="標楷體" panose="03000509000000000000" pitchFamily="65" charset="-120"/>
              <a:ea typeface="標楷體" panose="03000509000000000000" pitchFamily="65" charset="-120"/>
            </a:endParaRPr>
          </a:p>
        </p:txBody>
      </p:sp>
      <p:sp>
        <p:nvSpPr>
          <p:cNvPr id="9" name="向下箭號 8"/>
          <p:cNvSpPr/>
          <p:nvPr/>
        </p:nvSpPr>
        <p:spPr>
          <a:xfrm>
            <a:off x="7977809" y="2332383"/>
            <a:ext cx="1630017" cy="137822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矩形 9"/>
          <p:cNvSpPr/>
          <p:nvPr/>
        </p:nvSpPr>
        <p:spPr>
          <a:xfrm>
            <a:off x="9607826" y="2531165"/>
            <a:ext cx="1901687" cy="71561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smtClean="0">
                <a:solidFill>
                  <a:schemeClr val="tx1"/>
                </a:solidFill>
                <a:latin typeface="標楷體" panose="03000509000000000000" pitchFamily="65" charset="-120"/>
                <a:ea typeface="標楷體" panose="03000509000000000000" pitchFamily="65" charset="-120"/>
              </a:rPr>
              <a:t>Ctrl+</a:t>
            </a:r>
            <a:r>
              <a:rPr lang="zh-TW" altLang="en-US" sz="2800" dirty="0" smtClean="0">
                <a:solidFill>
                  <a:schemeClr val="tx1"/>
                </a:solidFill>
                <a:latin typeface="標楷體" panose="03000509000000000000" pitchFamily="65" charset="-120"/>
                <a:ea typeface="標楷體" panose="03000509000000000000" pitchFamily="65" charset="-120"/>
              </a:rPr>
              <a:t>左鍵</a:t>
            </a:r>
            <a:endParaRPr lang="zh-TW" altLang="en-US" sz="2800" dirty="0">
              <a:solidFill>
                <a:schemeClr val="tx1"/>
              </a:solidFill>
              <a:latin typeface="標楷體" panose="03000509000000000000" pitchFamily="65" charset="-120"/>
              <a:ea typeface="標楷體" panose="03000509000000000000" pitchFamily="65" charset="-12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2360" y="3807769"/>
            <a:ext cx="4690027" cy="2828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7047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206" y="3579329"/>
            <a:ext cx="5816791" cy="2927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351" y="302727"/>
            <a:ext cx="4690027" cy="2828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643351" y="2637184"/>
            <a:ext cx="642110" cy="3445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800" dirty="0">
              <a:solidFill>
                <a:schemeClr val="tx1"/>
              </a:solidFill>
              <a:latin typeface="標楷體" panose="03000509000000000000" pitchFamily="65" charset="-120"/>
              <a:ea typeface="標楷體" panose="03000509000000000000" pitchFamily="65" charset="-120"/>
            </a:endParaRPr>
          </a:p>
        </p:txBody>
      </p:sp>
      <p:cxnSp>
        <p:nvCxnSpPr>
          <p:cNvPr id="5" name="直線單箭頭接點 4"/>
          <p:cNvCxnSpPr>
            <a:endCxn id="9218" idx="0"/>
          </p:cNvCxnSpPr>
          <p:nvPr/>
        </p:nvCxnSpPr>
        <p:spPr>
          <a:xfrm>
            <a:off x="964406" y="2981740"/>
            <a:ext cx="2325196" cy="597589"/>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240237" y="5043073"/>
            <a:ext cx="847519" cy="3445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800" dirty="0">
              <a:solidFill>
                <a:schemeClr val="tx1"/>
              </a:solidFill>
              <a:latin typeface="標楷體" panose="03000509000000000000" pitchFamily="65" charset="-120"/>
              <a:ea typeface="標楷體" panose="03000509000000000000" pitchFamily="65" charset="-120"/>
            </a:endParaRPr>
          </a:p>
        </p:txBody>
      </p:sp>
      <p:cxnSp>
        <p:nvCxnSpPr>
          <p:cNvPr id="9" name="直線單箭頭接點 8"/>
          <p:cNvCxnSpPr/>
          <p:nvPr/>
        </p:nvCxnSpPr>
        <p:spPr>
          <a:xfrm flipV="1">
            <a:off x="3087756" y="1298713"/>
            <a:ext cx="4147931" cy="391663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235687" y="702365"/>
            <a:ext cx="3803374" cy="14179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smtClean="0">
                <a:solidFill>
                  <a:schemeClr val="tx1"/>
                </a:solidFill>
                <a:latin typeface="標楷體" panose="03000509000000000000" pitchFamily="65" charset="-120"/>
                <a:ea typeface="標楷體" panose="03000509000000000000" pitchFamily="65" charset="-120"/>
              </a:rPr>
              <a:t>按下</a:t>
            </a:r>
            <a:r>
              <a:rPr lang="en-US" altLang="zh-TW" sz="2800" dirty="0" smtClean="0">
                <a:solidFill>
                  <a:schemeClr val="tx1"/>
                </a:solidFill>
                <a:latin typeface="標楷體" panose="03000509000000000000" pitchFamily="65" charset="-120"/>
                <a:ea typeface="標楷體" panose="03000509000000000000" pitchFamily="65" charset="-120"/>
              </a:rPr>
              <a:t>Append</a:t>
            </a:r>
            <a:r>
              <a:rPr lang="zh-TW" altLang="en-US" sz="2800" dirty="0" smtClean="0">
                <a:solidFill>
                  <a:schemeClr val="tx1"/>
                </a:solidFill>
                <a:latin typeface="標楷體" panose="03000509000000000000" pitchFamily="65" charset="-120"/>
                <a:ea typeface="標楷體" panose="03000509000000000000" pitchFamily="65" charset="-120"/>
              </a:rPr>
              <a:t>才會寫入檔案當作特殊窗格</a:t>
            </a:r>
            <a:endParaRPr lang="zh-TW" altLang="en-US" sz="2800" dirty="0">
              <a:solidFill>
                <a:schemeClr val="tx1"/>
              </a:solidFill>
              <a:latin typeface="標楷體" panose="03000509000000000000" pitchFamily="65" charset="-120"/>
              <a:ea typeface="標楷體" panose="03000509000000000000" pitchFamily="65" charset="-120"/>
            </a:endParaRPr>
          </a:p>
        </p:txBody>
      </p:sp>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2749" y="3035989"/>
            <a:ext cx="5429250" cy="337806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cxnSp>
        <p:nvCxnSpPr>
          <p:cNvPr id="13" name="直線單箭頭接點 12"/>
          <p:cNvCxnSpPr>
            <a:stCxn id="10" idx="2"/>
            <a:endCxn id="9219" idx="0"/>
          </p:cNvCxnSpPr>
          <p:nvPr/>
        </p:nvCxnSpPr>
        <p:spPr>
          <a:xfrm>
            <a:off x="9137374" y="2120348"/>
            <a:ext cx="0" cy="91564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3095" y="318052"/>
            <a:ext cx="3803374" cy="112643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smtClean="0">
                <a:solidFill>
                  <a:schemeClr val="tx1"/>
                </a:solidFill>
                <a:latin typeface="標楷體" panose="03000509000000000000" pitchFamily="65" charset="-120"/>
                <a:ea typeface="標楷體" panose="03000509000000000000" pitchFamily="65" charset="-120"/>
              </a:rPr>
              <a:t>Playback</a:t>
            </a:r>
            <a:endParaRPr lang="zh-TW" altLang="en-US" sz="2800" dirty="0">
              <a:solidFill>
                <a:schemeClr val="tx1"/>
              </a:solidFill>
              <a:latin typeface="標楷體" panose="03000509000000000000" pitchFamily="65" charset="-120"/>
              <a:ea typeface="標楷體" panose="03000509000000000000" pitchFamily="65" charset="-12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6293" y="318052"/>
            <a:ext cx="4591464" cy="6217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537252" y="2054087"/>
            <a:ext cx="2676940" cy="9939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smtClean="0">
                <a:solidFill>
                  <a:schemeClr val="tx1"/>
                </a:solidFill>
                <a:latin typeface="標楷體" panose="03000509000000000000" pitchFamily="65" charset="-120"/>
                <a:ea typeface="標楷體" panose="03000509000000000000" pitchFamily="65" charset="-120"/>
              </a:rPr>
              <a:t>Log</a:t>
            </a:r>
            <a:r>
              <a:rPr lang="zh-TW" altLang="en-US" sz="2800" dirty="0" smtClean="0">
                <a:solidFill>
                  <a:schemeClr val="tx1"/>
                </a:solidFill>
                <a:latin typeface="標楷體" panose="03000509000000000000" pitchFamily="65" charset="-120"/>
                <a:ea typeface="標楷體" panose="03000509000000000000" pitchFamily="65" charset="-120"/>
              </a:rPr>
              <a:t>檔案</a:t>
            </a:r>
            <a:endParaRPr lang="zh-TW" altLang="en-US" sz="2800" dirty="0">
              <a:solidFill>
                <a:schemeClr val="tx1"/>
              </a:solidFill>
              <a:latin typeface="標楷體" panose="03000509000000000000" pitchFamily="65" charset="-120"/>
              <a:ea typeface="標楷體" panose="03000509000000000000" pitchFamily="65" charset="-120"/>
            </a:endParaRPr>
          </a:p>
        </p:txBody>
      </p:sp>
      <p:sp>
        <p:nvSpPr>
          <p:cNvPr id="5" name="矩形 4"/>
          <p:cNvSpPr/>
          <p:nvPr/>
        </p:nvSpPr>
        <p:spPr>
          <a:xfrm>
            <a:off x="1537252" y="3829878"/>
            <a:ext cx="2676940" cy="107342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smtClean="0">
                <a:solidFill>
                  <a:schemeClr val="tx1"/>
                </a:solidFill>
                <a:latin typeface="標楷體" panose="03000509000000000000" pitchFamily="65" charset="-120"/>
                <a:ea typeface="標楷體" panose="03000509000000000000" pitchFamily="65" charset="-120"/>
              </a:rPr>
              <a:t>執行網址</a:t>
            </a:r>
            <a:endParaRPr lang="zh-TW" altLang="en-US" sz="2800" dirty="0">
              <a:solidFill>
                <a:schemeClr val="tx1"/>
              </a:solidFill>
              <a:latin typeface="標楷體" panose="03000509000000000000" pitchFamily="65" charset="-120"/>
              <a:ea typeface="標楷體" panose="03000509000000000000" pitchFamily="65" charset="-120"/>
            </a:endParaRPr>
          </a:p>
        </p:txBody>
      </p:sp>
      <p:cxnSp>
        <p:nvCxnSpPr>
          <p:cNvPr id="6" name="直線單箭頭接點 5"/>
          <p:cNvCxnSpPr>
            <a:endCxn id="4" idx="3"/>
          </p:cNvCxnSpPr>
          <p:nvPr/>
        </p:nvCxnSpPr>
        <p:spPr>
          <a:xfrm flipH="1">
            <a:off x="4214192" y="1895061"/>
            <a:ext cx="2107095" cy="65598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flipH="1">
            <a:off x="4207567" y="2223052"/>
            <a:ext cx="2113720" cy="214353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4401" y="639002"/>
            <a:ext cx="6414100" cy="5311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609600" y="1487141"/>
            <a:ext cx="3803374" cy="3257137"/>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smtClean="0">
                <a:solidFill>
                  <a:schemeClr val="tx1"/>
                </a:solidFill>
                <a:latin typeface="標楷體" panose="03000509000000000000" pitchFamily="65" charset="-120"/>
                <a:ea typeface="標楷體" panose="03000509000000000000" pitchFamily="65" charset="-120"/>
              </a:rPr>
              <a:t>按下</a:t>
            </a:r>
            <a:r>
              <a:rPr lang="en-US" altLang="zh-TW" sz="2800" dirty="0" smtClean="0">
                <a:solidFill>
                  <a:schemeClr val="tx1"/>
                </a:solidFill>
                <a:latin typeface="標楷體" panose="03000509000000000000" pitchFamily="65" charset="-120"/>
                <a:ea typeface="標楷體" panose="03000509000000000000" pitchFamily="65" charset="-120"/>
              </a:rPr>
              <a:t>Play</a:t>
            </a:r>
            <a:r>
              <a:rPr lang="zh-TW" altLang="en-US" sz="2800" dirty="0" smtClean="0">
                <a:solidFill>
                  <a:schemeClr val="tx1"/>
                </a:solidFill>
                <a:latin typeface="標楷體" panose="03000509000000000000" pitchFamily="65" charset="-120"/>
                <a:ea typeface="標楷體" panose="03000509000000000000" pitchFamily="65" charset="-120"/>
              </a:rPr>
              <a:t>之後</a:t>
            </a:r>
            <a:r>
              <a:rPr lang="en-US" altLang="zh-TW" sz="2800" dirty="0" smtClean="0">
                <a:solidFill>
                  <a:schemeClr val="tx1"/>
                </a:solidFill>
                <a:latin typeface="標楷體" panose="03000509000000000000" pitchFamily="65" charset="-120"/>
                <a:ea typeface="標楷體" panose="03000509000000000000" pitchFamily="65" charset="-120"/>
              </a:rPr>
              <a:t/>
            </a:r>
            <a:br>
              <a:rPr lang="en-US" altLang="zh-TW" sz="2800" dirty="0" smtClean="0">
                <a:solidFill>
                  <a:schemeClr val="tx1"/>
                </a:solidFill>
                <a:latin typeface="標楷體" panose="03000509000000000000" pitchFamily="65" charset="-120"/>
                <a:ea typeface="標楷體" panose="03000509000000000000" pitchFamily="65" charset="-120"/>
              </a:rPr>
            </a:br>
            <a:r>
              <a:rPr lang="zh-TW" altLang="en-US" sz="2800" dirty="0" smtClean="0">
                <a:solidFill>
                  <a:schemeClr val="tx1"/>
                </a:solidFill>
                <a:latin typeface="標楷體" panose="03000509000000000000" pitchFamily="65" charset="-120"/>
                <a:ea typeface="標楷體" panose="03000509000000000000" pitchFamily="65" charset="-120"/>
              </a:rPr>
              <a:t>網頁視窗會</a:t>
            </a:r>
            <a:r>
              <a:rPr lang="en-US" altLang="zh-TW" sz="2800" dirty="0" smtClean="0">
                <a:solidFill>
                  <a:schemeClr val="tx1"/>
                </a:solidFill>
                <a:latin typeface="標楷體" panose="03000509000000000000" pitchFamily="65" charset="-120"/>
                <a:ea typeface="標楷體" panose="03000509000000000000" pitchFamily="65" charset="-120"/>
              </a:rPr>
              <a:t>“</a:t>
            </a:r>
            <a:r>
              <a:rPr lang="zh-TW" altLang="en-US" sz="2800" dirty="0" smtClean="0">
                <a:solidFill>
                  <a:schemeClr val="tx1"/>
                </a:solidFill>
                <a:latin typeface="標楷體" panose="03000509000000000000" pitchFamily="65" charset="-120"/>
                <a:ea typeface="標楷體" panose="03000509000000000000" pitchFamily="65" charset="-120"/>
              </a:rPr>
              <a:t>自動</a:t>
            </a:r>
            <a:r>
              <a:rPr lang="en-US" altLang="zh-TW" sz="2800" dirty="0" smtClean="0">
                <a:solidFill>
                  <a:schemeClr val="tx1"/>
                </a:solidFill>
                <a:latin typeface="標楷體" panose="03000509000000000000" pitchFamily="65" charset="-120"/>
                <a:ea typeface="標楷體" panose="03000509000000000000" pitchFamily="65" charset="-120"/>
              </a:rPr>
              <a:t>”</a:t>
            </a:r>
            <a:br>
              <a:rPr lang="en-US" altLang="zh-TW" sz="2800" dirty="0" smtClean="0">
                <a:solidFill>
                  <a:schemeClr val="tx1"/>
                </a:solidFill>
                <a:latin typeface="標楷體" panose="03000509000000000000" pitchFamily="65" charset="-120"/>
                <a:ea typeface="標楷體" panose="03000509000000000000" pitchFamily="65" charset="-120"/>
              </a:rPr>
            </a:br>
            <a:r>
              <a:rPr lang="zh-TW" altLang="en-US" sz="2800" dirty="0" smtClean="0">
                <a:solidFill>
                  <a:schemeClr val="tx1"/>
                </a:solidFill>
                <a:latin typeface="標楷體" panose="03000509000000000000" pitchFamily="65" charset="-120"/>
                <a:ea typeface="標楷體" panose="03000509000000000000" pitchFamily="65" charset="-120"/>
              </a:rPr>
              <a:t>執行剛剛所經過之步驟</a:t>
            </a:r>
            <a:r>
              <a:rPr lang="en-US" altLang="zh-TW" sz="2800" dirty="0" smtClean="0">
                <a:solidFill>
                  <a:schemeClr val="tx1"/>
                </a:solidFill>
                <a:latin typeface="標楷體" panose="03000509000000000000" pitchFamily="65" charset="-120"/>
                <a:ea typeface="標楷體" panose="03000509000000000000" pitchFamily="65" charset="-120"/>
              </a:rPr>
              <a:t/>
            </a:r>
            <a:br>
              <a:rPr lang="en-US" altLang="zh-TW" sz="2800" dirty="0" smtClean="0">
                <a:solidFill>
                  <a:schemeClr val="tx1"/>
                </a:solidFill>
                <a:latin typeface="標楷體" panose="03000509000000000000" pitchFamily="65" charset="-120"/>
                <a:ea typeface="標楷體" panose="03000509000000000000" pitchFamily="65" charset="-120"/>
              </a:rPr>
            </a:br>
            <a:r>
              <a:rPr lang="zh-TW" altLang="en-US" sz="2800" dirty="0" smtClean="0">
                <a:solidFill>
                  <a:schemeClr val="tx1"/>
                </a:solidFill>
                <a:latin typeface="標楷體" panose="03000509000000000000" pitchFamily="65" charset="-120"/>
                <a:ea typeface="標楷體" panose="03000509000000000000" pitchFamily="65" charset="-120"/>
              </a:rPr>
              <a:t>只要最後結果出現</a:t>
            </a:r>
            <a:r>
              <a:rPr lang="en-US" altLang="zh-TW" sz="2800" dirty="0">
                <a:solidFill>
                  <a:schemeClr val="tx1"/>
                </a:solidFill>
                <a:latin typeface="標楷體" panose="03000509000000000000" pitchFamily="65" charset="-120"/>
                <a:ea typeface="標楷體" panose="03000509000000000000" pitchFamily="65" charset="-120"/>
              </a:rPr>
              <a:t/>
            </a:r>
            <a:br>
              <a:rPr lang="en-US" altLang="zh-TW" sz="2800" dirty="0">
                <a:solidFill>
                  <a:schemeClr val="tx1"/>
                </a:solidFill>
                <a:latin typeface="標楷體" panose="03000509000000000000" pitchFamily="65" charset="-120"/>
                <a:ea typeface="標楷體" panose="03000509000000000000" pitchFamily="65" charset="-120"/>
              </a:rPr>
            </a:br>
            <a:r>
              <a:rPr lang="en-US" altLang="zh-TW" sz="2800" dirty="0" smtClean="0">
                <a:solidFill>
                  <a:schemeClr val="tx1"/>
                </a:solidFill>
                <a:latin typeface="標楷體" panose="03000509000000000000" pitchFamily="65" charset="-120"/>
                <a:ea typeface="標楷體" panose="03000509000000000000" pitchFamily="65" charset="-120"/>
              </a:rPr>
              <a:t>“SUCCESS”</a:t>
            </a:r>
            <a:br>
              <a:rPr lang="en-US" altLang="zh-TW" sz="2800" dirty="0" smtClean="0">
                <a:solidFill>
                  <a:schemeClr val="tx1"/>
                </a:solidFill>
                <a:latin typeface="標楷體" panose="03000509000000000000" pitchFamily="65" charset="-120"/>
                <a:ea typeface="標楷體" panose="03000509000000000000" pitchFamily="65" charset="-120"/>
              </a:rPr>
            </a:br>
            <a:r>
              <a:rPr lang="zh-TW" altLang="en-US" sz="2800" dirty="0" smtClean="0">
                <a:solidFill>
                  <a:schemeClr val="tx1"/>
                </a:solidFill>
                <a:latin typeface="標楷體" panose="03000509000000000000" pitchFamily="65" charset="-120"/>
                <a:ea typeface="標楷體" panose="03000509000000000000" pitchFamily="65" charset="-120"/>
              </a:rPr>
              <a:t>即代表結果相同</a:t>
            </a:r>
            <a:endParaRPr lang="zh-TW" altLang="en-US" sz="2800" dirty="0">
              <a:solidFill>
                <a:schemeClr val="tx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99931" y="610220"/>
            <a:ext cx="3803374" cy="1441588"/>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smtClean="0">
                <a:solidFill>
                  <a:schemeClr val="tx1"/>
                </a:solidFill>
                <a:latin typeface="標楷體" panose="03000509000000000000" pitchFamily="65" charset="-120"/>
                <a:ea typeface="標楷體" panose="03000509000000000000" pitchFamily="65" charset="-120"/>
              </a:rPr>
              <a:t>將指定窗格的值</a:t>
            </a:r>
            <a:r>
              <a:rPr lang="en-US" altLang="zh-TW" sz="2800" dirty="0" smtClean="0">
                <a:solidFill>
                  <a:schemeClr val="tx1"/>
                </a:solidFill>
                <a:latin typeface="標楷體" panose="03000509000000000000" pitchFamily="65" charset="-120"/>
                <a:ea typeface="標楷體" panose="03000509000000000000" pitchFamily="65" charset="-120"/>
              </a:rPr>
              <a:t/>
            </a:r>
            <a:br>
              <a:rPr lang="en-US" altLang="zh-TW" sz="2800" dirty="0" smtClean="0">
                <a:solidFill>
                  <a:schemeClr val="tx1"/>
                </a:solidFill>
                <a:latin typeface="標楷體" panose="03000509000000000000" pitchFamily="65" charset="-120"/>
                <a:ea typeface="標楷體" panose="03000509000000000000" pitchFamily="65" charset="-120"/>
              </a:rPr>
            </a:br>
            <a:r>
              <a:rPr lang="zh-TW" altLang="en-US" sz="2800" dirty="0" smtClean="0">
                <a:solidFill>
                  <a:schemeClr val="tx1"/>
                </a:solidFill>
                <a:latin typeface="標楷體" panose="03000509000000000000" pitchFamily="65" charset="-120"/>
                <a:ea typeface="標楷體" panose="03000509000000000000" pitchFamily="65" charset="-120"/>
              </a:rPr>
              <a:t>更改為</a:t>
            </a:r>
            <a:r>
              <a:rPr lang="en-US" altLang="zh-TW" sz="2800" dirty="0" smtClean="0">
                <a:solidFill>
                  <a:schemeClr val="tx1"/>
                </a:solidFill>
                <a:latin typeface="標楷體" panose="03000509000000000000" pitchFamily="65" charset="-120"/>
                <a:ea typeface="標楷體" panose="03000509000000000000" pitchFamily="65" charset="-120"/>
              </a:rPr>
              <a:t>1800</a:t>
            </a:r>
            <a:endParaRPr lang="zh-TW" altLang="en-US" sz="2800" dirty="0">
              <a:solidFill>
                <a:schemeClr val="tx1"/>
              </a:solidFill>
              <a:latin typeface="標楷體" panose="03000509000000000000" pitchFamily="65" charset="-120"/>
              <a:ea typeface="標楷體" panose="03000509000000000000" pitchFamily="65" charset="-120"/>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68" y="2294283"/>
            <a:ext cx="5372100" cy="3881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直線接點 3"/>
          <p:cNvCxnSpPr/>
          <p:nvPr/>
        </p:nvCxnSpPr>
        <p:spPr>
          <a:xfrm>
            <a:off x="1709530" y="5764696"/>
            <a:ext cx="58309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5075" y="318052"/>
            <a:ext cx="4591464" cy="6217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4869" y="791611"/>
            <a:ext cx="6400224" cy="5198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4625009" y="3511827"/>
            <a:ext cx="2531165" cy="3445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800" dirty="0">
              <a:solidFill>
                <a:schemeClr val="tx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740" y="435459"/>
            <a:ext cx="2533650"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23" y="2102333"/>
            <a:ext cx="11701813" cy="43647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直線接點 2"/>
          <p:cNvCxnSpPr/>
          <p:nvPr/>
        </p:nvCxnSpPr>
        <p:spPr>
          <a:xfrm>
            <a:off x="654740" y="795130"/>
            <a:ext cx="208846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740" y="435459"/>
            <a:ext cx="2533650"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直線接點 2"/>
          <p:cNvCxnSpPr/>
          <p:nvPr/>
        </p:nvCxnSpPr>
        <p:spPr>
          <a:xfrm>
            <a:off x="654740" y="609599"/>
            <a:ext cx="208846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70" y="2003148"/>
            <a:ext cx="11900451" cy="4675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9387" y="390112"/>
            <a:ext cx="9312636" cy="5957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145775" y="610220"/>
            <a:ext cx="2133600" cy="720794"/>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smtClean="0">
                <a:solidFill>
                  <a:schemeClr val="tx1"/>
                </a:solidFill>
                <a:latin typeface="標楷體" panose="03000509000000000000" pitchFamily="65" charset="-120"/>
                <a:ea typeface="標楷體" panose="03000509000000000000" pitchFamily="65" charset="-120"/>
              </a:rPr>
              <a:t>點擊檔案</a:t>
            </a:r>
            <a:endParaRPr lang="zh-TW" altLang="en-US" sz="2800" dirty="0">
              <a:solidFill>
                <a:schemeClr val="tx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9342" y="473075"/>
            <a:ext cx="6972300" cy="5962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標題 1"/>
          <p:cNvSpPr>
            <a:spLocks noGrp="1"/>
          </p:cNvSpPr>
          <p:nvPr>
            <p:ph type="title"/>
          </p:nvPr>
        </p:nvSpPr>
        <p:spPr>
          <a:xfrm>
            <a:off x="769257" y="260124"/>
            <a:ext cx="10363200" cy="1143000"/>
          </a:xfrm>
        </p:spPr>
        <p:txBody>
          <a:bodyPr/>
          <a:lstStyle/>
          <a:p>
            <a:r>
              <a:rPr lang="en-US" altLang="zh-TW" dirty="0" smtClean="0">
                <a:latin typeface="微軟正黑體" panose="020B0604030504040204" pitchFamily="34" charset="-120"/>
                <a:ea typeface="微軟正黑體" panose="020B0604030504040204" pitchFamily="34" charset="-120"/>
              </a:rPr>
              <a:t>Test Complete</a:t>
            </a:r>
            <a:endParaRPr lang="zh-TW" altLang="en-US" dirty="0">
              <a:latin typeface="微軟正黑體" panose="020B0604030504040204" pitchFamily="34" charset="-120"/>
              <a:ea typeface="微軟正黑體" panose="020B0604030504040204" pitchFamily="34" charset="-120"/>
            </a:endParaRPr>
          </a:p>
        </p:txBody>
      </p:sp>
      <p:sp>
        <p:nvSpPr>
          <p:cNvPr id="2" name="AutoShape 5" descr="「TestComplete」的圖片搜尋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4" name="AutoShape 7" descr="「TestComplete」的圖片搜尋結果"/>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5" name="AutoShape 9" descr="「TestComplete」的圖片搜尋結果"/>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6" name="AutoShape 11" descr="https://smartbear.com/SmartBear/media/images/Logos/Products/TestComplete-horiz-blue.svg?ext=.sv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17420" name="Picture 12" descr="C:\Users\USER\Desktop\下載.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75" y="1943685"/>
            <a:ext cx="3021430" cy="3021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smartbear.com/SmartBear/media/images/Logos/Products/TestComplete-horiz-blue.svg?ext=.sv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512" y="461962"/>
            <a:ext cx="7038975" cy="593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891965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3" y="590550"/>
            <a:ext cx="10810875" cy="567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2255768" y="1160391"/>
            <a:ext cx="1192282" cy="23025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ysClr val="windowText" lastClr="0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8803" y="356021"/>
            <a:ext cx="5080601" cy="1659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297" y="356021"/>
            <a:ext cx="6400800" cy="5932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7946" y="361659"/>
            <a:ext cx="6581775" cy="6045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4611" y="405719"/>
            <a:ext cx="6267450" cy="616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619125"/>
            <a:ext cx="10858500" cy="561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4788" y="386443"/>
            <a:ext cx="6296025" cy="61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1450"/>
            <a:ext cx="8897434" cy="636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513" y="633413"/>
            <a:ext cx="10848975" cy="5591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7372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819150" y="1524000"/>
            <a:ext cx="10363200" cy="3798888"/>
          </a:xfrm>
        </p:spPr>
        <p:txBody>
          <a:bodyPr>
            <a:noAutofit/>
          </a:bodyPr>
          <a:lstStyle/>
          <a:p>
            <a:pPr algn="ctr"/>
            <a:r>
              <a:rPr lang="en-US" altLang="zh-TW" sz="19900" dirty="0" smtClean="0"/>
              <a:t>The End</a:t>
            </a:r>
            <a:endParaRPr lang="zh-TW" altLang="en-US" sz="19900" dirty="0"/>
          </a:p>
        </p:txBody>
      </p:sp>
    </p:spTree>
    <p:extLst>
      <p:ext uri="{BB962C8B-B14F-4D97-AF65-F5344CB8AC3E}">
        <p14:creationId xmlns:p14="http://schemas.microsoft.com/office/powerpoint/2010/main" val="16053485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微軟正黑體" panose="020B0604030504040204" pitchFamily="34" charset="-120"/>
                <a:ea typeface="微軟正黑體" panose="020B0604030504040204" pitchFamily="34" charset="-120"/>
              </a:rPr>
              <a:t>參考網</a:t>
            </a:r>
            <a:r>
              <a:rPr lang="zh-TW" altLang="en-US" dirty="0">
                <a:latin typeface="微軟正黑體" panose="020B0604030504040204" pitchFamily="34" charset="-120"/>
                <a:ea typeface="微軟正黑體" panose="020B0604030504040204" pitchFamily="34" charset="-120"/>
              </a:rPr>
              <a:t>址</a:t>
            </a:r>
          </a:p>
        </p:txBody>
      </p:sp>
      <p:sp>
        <p:nvSpPr>
          <p:cNvPr id="3" name="內容版面配置區 2"/>
          <p:cNvSpPr>
            <a:spLocks noGrp="1"/>
          </p:cNvSpPr>
          <p:nvPr>
            <p:ph sz="quarter" idx="1"/>
          </p:nvPr>
        </p:nvSpPr>
        <p:spPr/>
        <p:txBody>
          <a:bodyPr/>
          <a:lstStyle/>
          <a:p>
            <a:r>
              <a:rPr lang="en-US" altLang="zh-TW" dirty="0">
                <a:latin typeface="微軟正黑體" panose="020B0604030504040204" pitchFamily="34" charset="-120"/>
                <a:ea typeface="微軟正黑體" panose="020B0604030504040204" pitchFamily="34" charset="-120"/>
                <a:hlinkClick r:id="rId2"/>
              </a:rPr>
              <a:t>https://</a:t>
            </a:r>
            <a:r>
              <a:rPr lang="en-US" altLang="zh-TW" dirty="0" smtClean="0">
                <a:latin typeface="微軟正黑體" panose="020B0604030504040204" pitchFamily="34" charset="-120"/>
                <a:ea typeface="微軟正黑體" panose="020B0604030504040204" pitchFamily="34" charset="-120"/>
                <a:hlinkClick r:id="rId2"/>
              </a:rPr>
              <a:t>kknews.cc/zh-tw/tech/zmkjnea.html</a:t>
            </a:r>
            <a:endParaRPr lang="en-US" altLang="zh-TW" dirty="0" smtClean="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hlinkClick r:id="rId3"/>
              </a:rPr>
              <a:t>https://kkboxsqa.wordpress.com/2014/02/27/%E5%9B%9E%E6%AD%B8%E6%B8%AC%E8%A9%A6-regression-testing</a:t>
            </a:r>
            <a:r>
              <a:rPr lang="en-US" altLang="zh-TW" dirty="0" smtClean="0">
                <a:latin typeface="微軟正黑體" panose="020B0604030504040204" pitchFamily="34" charset="-120"/>
                <a:ea typeface="微軟正黑體" panose="020B0604030504040204" pitchFamily="34" charset="-120"/>
                <a:hlinkClick r:id="rId3"/>
              </a:rPr>
              <a:t>/</a:t>
            </a:r>
            <a:endParaRPr lang="en-US" altLang="zh-TW" dirty="0" smtClean="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hlinkClick r:id="rId4"/>
              </a:rPr>
              <a:t>https://</a:t>
            </a:r>
            <a:r>
              <a:rPr lang="en-US" altLang="zh-TW" dirty="0" smtClean="0">
                <a:latin typeface="微軟正黑體" panose="020B0604030504040204" pitchFamily="34" charset="-120"/>
                <a:ea typeface="微軟正黑體" panose="020B0604030504040204" pitchFamily="34" charset="-120"/>
                <a:hlinkClick r:id="rId4"/>
              </a:rPr>
              <a:t>files.cnblogs.com/files/testware/Getting_Started_with_TestComplete.pdf</a:t>
            </a:r>
            <a:endParaRPr lang="en-US" altLang="zh-TW" dirty="0" smtClean="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hlinkClick r:id="rId5"/>
              </a:rPr>
              <a:t>https://</a:t>
            </a:r>
            <a:r>
              <a:rPr lang="en-US" altLang="zh-TW" dirty="0" smtClean="0">
                <a:latin typeface="微軟正黑體" panose="020B0604030504040204" pitchFamily="34" charset="-120"/>
                <a:ea typeface="微軟正黑體" panose="020B0604030504040204" pitchFamily="34" charset="-120"/>
                <a:hlinkClick r:id="rId5"/>
              </a:rPr>
              <a:t>www.youtube.com/watch?v=vjxzSlUO99U</a:t>
            </a:r>
            <a:endParaRPr lang="en-US" altLang="zh-TW" dirty="0" smtClean="0">
              <a:latin typeface="微軟正黑體" panose="020B0604030504040204" pitchFamily="34" charset="-120"/>
              <a:ea typeface="微軟正黑體" panose="020B0604030504040204" pitchFamily="34" charset="-120"/>
            </a:endParaRPr>
          </a:p>
          <a:p>
            <a:endParaRPr lang="en-US" altLang="zh-TW" dirty="0" smtClean="0">
              <a:latin typeface="微軟正黑體" panose="020B0604030504040204" pitchFamily="34" charset="-120"/>
              <a:ea typeface="微軟正黑體" panose="020B0604030504040204" pitchFamily="34" charset="-120"/>
            </a:endParaRPr>
          </a:p>
          <a:p>
            <a:endParaRPr lang="en-US" altLang="zh-TW" dirty="0" smtClean="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5766840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公正">
  <a:themeElements>
    <a:clrScheme name="公正">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公正">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公正">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317</TotalTime>
  <Words>376</Words>
  <Application>Microsoft Office PowerPoint</Application>
  <PresentationFormat>寬螢幕</PresentationFormat>
  <Paragraphs>57</Paragraphs>
  <Slides>34</Slides>
  <Notes>5</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34</vt:i4>
      </vt:variant>
    </vt:vector>
  </HeadingPairs>
  <TitlesOfParts>
    <vt:vector size="42" baseType="lpstr">
      <vt:lpstr>微軟正黑體</vt:lpstr>
      <vt:lpstr>新細明體</vt:lpstr>
      <vt:lpstr>標楷體</vt:lpstr>
      <vt:lpstr>Calibri</vt:lpstr>
      <vt:lpstr>Franklin Gothic Book</vt:lpstr>
      <vt:lpstr>Perpetua</vt:lpstr>
      <vt:lpstr>Wingdings 2</vt:lpstr>
      <vt:lpstr>公正</vt:lpstr>
      <vt:lpstr>軟體回歸 (回歸測試 操作)</vt:lpstr>
      <vt:lpstr>回歸測試(Regression Testing)</vt:lpstr>
      <vt:lpstr>回歸測試(Regression Testing)</vt:lpstr>
      <vt:lpstr>回歸測試策略</vt:lpstr>
      <vt:lpstr>回歸測試軟體</vt:lpstr>
      <vt:lpstr>PowerPoint 簡報</vt:lpstr>
      <vt:lpstr>PowerPoint 簡報</vt:lpstr>
      <vt:lpstr>SahiPro</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Test Complete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The End</vt:lpstr>
      <vt:lpstr>參考網址</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軟體回歸 (回歸測試)</dc:title>
  <dc:creator>ppcb</dc:creator>
  <cp:lastModifiedBy>宥憲 王</cp:lastModifiedBy>
  <cp:revision>26</cp:revision>
  <dcterms:created xsi:type="dcterms:W3CDTF">2018-04-02T07:01:07Z</dcterms:created>
  <dcterms:modified xsi:type="dcterms:W3CDTF">2018-04-17T02:12:41Z</dcterms:modified>
</cp:coreProperties>
</file>