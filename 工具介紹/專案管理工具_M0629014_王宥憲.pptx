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5.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8.JPG" ContentType="image/jpeg"/>
  <Override PartName="/ppt/notesSlides/notesSlide9.xml" ContentType="application/vnd.openxmlformats-officedocument.presentationml.notesSlide+xml"/>
  <Override PartName="/ppt/media/image9.JPG" ContentType="image/jpeg"/>
  <Override PartName="/ppt/notesSlides/notesSlide10.xml" ContentType="application/vnd.openxmlformats-officedocument.presentationml.notesSlide+xml"/>
  <Override PartName="/ppt/media/image10.JPG" ContentType="image/jpeg"/>
  <Override PartName="/ppt/notesSlides/notesSlide11.xml" ContentType="application/vnd.openxmlformats-officedocument.presentationml.notesSlide+xml"/>
  <Override PartName="/ppt/notesSlides/notesSlide12.xml" ContentType="application/vnd.openxmlformats-officedocument.presentationml.notesSlide+xml"/>
  <Override PartName="/ppt/media/image11.JPG" ContentType="image/jpeg"/>
  <Override PartName="/ppt/notesSlides/notesSlide13.xml" ContentType="application/vnd.openxmlformats-officedocument.presentationml.notesSlide+xml"/>
  <Override PartName="/ppt/media/image12.JPG" ContentType="image/jpeg"/>
  <Override PartName="/ppt/notesSlides/notesSlide14.xml" ContentType="application/vnd.openxmlformats-officedocument.presentationml.notesSlide+xml"/>
  <Override PartName="/ppt/media/image13.JPG" ContentType="image/jpeg"/>
  <Override PartName="/ppt/notesSlides/notesSlide15.xml" ContentType="application/vnd.openxmlformats-officedocument.presentationml.notesSlide+xml"/>
  <Override PartName="/ppt/media/image14.JPG" ContentType="image/jpeg"/>
  <Override PartName="/ppt/notesSlides/notesSlide16.xml" ContentType="application/vnd.openxmlformats-officedocument.presentationml.notesSlide+xml"/>
  <Override PartName="/ppt/media/image15.JPG" ContentType="image/jpeg"/>
  <Override PartName="/ppt/notesSlides/notesSlide17.xml" ContentType="application/vnd.openxmlformats-officedocument.presentationml.notesSlide+xml"/>
  <Override PartName="/ppt/media/image16.JPG" ContentType="image/jpeg"/>
  <Override PartName="/ppt/notesSlides/notesSlide18.xml" ContentType="application/vnd.openxmlformats-officedocument.presentationml.notesSlide+xml"/>
  <Override PartName="/ppt/media/image17.JPG" ContentType="image/jpeg"/>
  <Override PartName="/ppt/notesSlides/notesSlide19.xml" ContentType="application/vnd.openxmlformats-officedocument.presentationml.notesSlide+xml"/>
  <Override PartName="/ppt/media/image18.JPG" ContentType="image/jpeg"/>
  <Override PartName="/ppt/media/image19.JPG" ContentType="image/jpeg"/>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5"/>
  </p:notesMasterIdLst>
  <p:handoutMasterIdLst>
    <p:handoutMasterId r:id="rId26"/>
  </p:handoutMasterIdLst>
  <p:sldIdLst>
    <p:sldId id="286" r:id="rId2"/>
    <p:sldId id="283" r:id="rId3"/>
    <p:sldId id="284" r:id="rId4"/>
    <p:sldId id="285" r:id="rId5"/>
    <p:sldId id="290" r:id="rId6"/>
    <p:sldId id="289" r:id="rId7"/>
    <p:sldId id="287" r:id="rId8"/>
    <p:sldId id="288" r:id="rId9"/>
    <p:sldId id="291" r:id="rId10"/>
    <p:sldId id="292" r:id="rId11"/>
    <p:sldId id="293" r:id="rId12"/>
    <p:sldId id="294" r:id="rId13"/>
    <p:sldId id="302" r:id="rId14"/>
    <p:sldId id="295" r:id="rId15"/>
    <p:sldId id="296" r:id="rId16"/>
    <p:sldId id="298" r:id="rId17"/>
    <p:sldId id="297" r:id="rId18"/>
    <p:sldId id="299" r:id="rId19"/>
    <p:sldId id="300" r:id="rId20"/>
    <p:sldId id="301" r:id="rId21"/>
    <p:sldId id="303" r:id="rId22"/>
    <p:sldId id="304" r:id="rId23"/>
    <p:sldId id="305" r:id="rId24"/>
  </p:sldIdLst>
  <p:sldSz cx="12192000" cy="6858000"/>
  <p:notesSz cx="9945688" cy="681196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4590" autoAdjust="0"/>
  </p:normalViewPr>
  <p:slideViewPr>
    <p:cSldViewPr>
      <p:cViewPr>
        <p:scale>
          <a:sx n="100" d="100"/>
          <a:sy n="100" d="100"/>
        </p:scale>
        <p:origin x="-984" y="-12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123" d="100"/>
          <a:sy n="123" d="100"/>
        </p:scale>
        <p:origin x="-1866" y="-90"/>
      </p:cViewPr>
      <p:guideLst>
        <p:guide orient="horz" pos="2145"/>
        <p:guide pos="313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09798" cy="341781"/>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5633588" y="1"/>
            <a:ext cx="4309798" cy="341781"/>
          </a:xfrm>
          <a:prstGeom prst="rect">
            <a:avLst/>
          </a:prstGeom>
        </p:spPr>
        <p:txBody>
          <a:bodyPr vert="horz" lIns="91440" tIns="45720" rIns="91440" bIns="45720" rtlCol="0"/>
          <a:lstStyle>
            <a:lvl1pPr algn="r">
              <a:defRPr sz="1200"/>
            </a:lvl1pPr>
          </a:lstStyle>
          <a:p>
            <a:fld id="{8E3E2170-0A93-4FBB-A650-7AFCAB8BE109}" type="datetimeFigureOut">
              <a:rPr lang="zh-TW" altLang="en-US" smtClean="0"/>
              <a:t>2018/4/16</a:t>
            </a:fld>
            <a:endParaRPr lang="zh-TW" altLang="en-US"/>
          </a:p>
        </p:txBody>
      </p:sp>
      <p:sp>
        <p:nvSpPr>
          <p:cNvPr id="4" name="頁尾版面配置區 3"/>
          <p:cNvSpPr>
            <a:spLocks noGrp="1"/>
          </p:cNvSpPr>
          <p:nvPr>
            <p:ph type="ftr" sz="quarter" idx="2"/>
          </p:nvPr>
        </p:nvSpPr>
        <p:spPr>
          <a:xfrm>
            <a:off x="0" y="6470183"/>
            <a:ext cx="4309798" cy="34178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5633588" y="6470183"/>
            <a:ext cx="4309798" cy="341780"/>
          </a:xfrm>
          <a:prstGeom prst="rect">
            <a:avLst/>
          </a:prstGeom>
        </p:spPr>
        <p:txBody>
          <a:bodyPr vert="horz" lIns="91440" tIns="45720" rIns="91440" bIns="45720" rtlCol="0" anchor="b"/>
          <a:lstStyle>
            <a:lvl1pPr algn="r">
              <a:defRPr sz="1200"/>
            </a:lvl1pPr>
          </a:lstStyle>
          <a:p>
            <a:fld id="{3DD0D129-B7B0-4E68-85A6-82F690968A97}" type="slidenum">
              <a:rPr lang="zh-TW" altLang="en-US" smtClean="0"/>
              <a:t>‹#›</a:t>
            </a:fld>
            <a:endParaRPr lang="zh-TW" altLang="en-US"/>
          </a:p>
        </p:txBody>
      </p:sp>
    </p:spTree>
    <p:extLst>
      <p:ext uri="{BB962C8B-B14F-4D97-AF65-F5344CB8AC3E}">
        <p14:creationId xmlns:p14="http://schemas.microsoft.com/office/powerpoint/2010/main" val="3782871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4310063" cy="341313"/>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34038" y="0"/>
            <a:ext cx="4310062" cy="341313"/>
          </a:xfrm>
          <a:prstGeom prst="rect">
            <a:avLst/>
          </a:prstGeom>
        </p:spPr>
        <p:txBody>
          <a:bodyPr vert="horz" lIns="91440" tIns="45720" rIns="91440" bIns="45720" rtlCol="0"/>
          <a:lstStyle>
            <a:lvl1pPr algn="r">
              <a:defRPr sz="1200"/>
            </a:lvl1pPr>
          </a:lstStyle>
          <a:p>
            <a:fld id="{F5ED7981-2CCB-4286-A5E1-3F8C75ADE67C}" type="datetimeFigureOut">
              <a:rPr lang="zh-TW" altLang="en-US" smtClean="0"/>
              <a:t>2018/4/16</a:t>
            </a:fld>
            <a:endParaRPr lang="zh-TW" altLang="en-US"/>
          </a:p>
        </p:txBody>
      </p:sp>
      <p:sp>
        <p:nvSpPr>
          <p:cNvPr id="4" name="投影片圖像版面配置區 3"/>
          <p:cNvSpPr>
            <a:spLocks noGrp="1" noRot="1" noChangeAspect="1"/>
          </p:cNvSpPr>
          <p:nvPr>
            <p:ph type="sldImg" idx="2"/>
          </p:nvPr>
        </p:nvSpPr>
        <p:spPr>
          <a:xfrm>
            <a:off x="2928938" y="850900"/>
            <a:ext cx="4089400" cy="2300288"/>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5363" y="3278188"/>
            <a:ext cx="7956550" cy="2682875"/>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6470650"/>
            <a:ext cx="4310063" cy="341313"/>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34038" y="6470650"/>
            <a:ext cx="4310062" cy="341313"/>
          </a:xfrm>
          <a:prstGeom prst="rect">
            <a:avLst/>
          </a:prstGeom>
        </p:spPr>
        <p:txBody>
          <a:bodyPr vert="horz" lIns="91440" tIns="45720" rIns="91440" bIns="45720" rtlCol="0" anchor="b"/>
          <a:lstStyle>
            <a:lvl1pPr algn="r">
              <a:defRPr sz="1200"/>
            </a:lvl1pPr>
          </a:lstStyle>
          <a:p>
            <a:fld id="{3B9FF628-B610-489C-AA18-95929AFCFA03}" type="slidenum">
              <a:rPr lang="zh-TW" altLang="en-US" smtClean="0"/>
              <a:t>‹#›</a:t>
            </a:fld>
            <a:endParaRPr lang="zh-TW" altLang="en-US"/>
          </a:p>
        </p:txBody>
      </p:sp>
    </p:spTree>
    <p:extLst>
      <p:ext uri="{BB962C8B-B14F-4D97-AF65-F5344CB8AC3E}">
        <p14:creationId xmlns:p14="http://schemas.microsoft.com/office/powerpoint/2010/main" val="100431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Trello </a:t>
            </a:r>
            <a:r>
              <a:rPr lang="zh-TW" altLang="en-US" dirty="0" smtClean="0"/>
              <a:t>提供一個像是便利貼牆的大看板，我們可以在上面貼上所有的任務、瑣事、資料，然後一條一條的依據進度或分組自由排列好，清楚的呈現出整個專案的結構，誰不會像是積木一樣自由拖曳整理卡片呢？所以 </a:t>
            </a:r>
            <a:r>
              <a:rPr lang="en-US" altLang="zh-TW" dirty="0" smtClean="0"/>
              <a:t>Trello </a:t>
            </a:r>
            <a:r>
              <a:rPr lang="zh-TW" altLang="en-US" dirty="0" smtClean="0"/>
              <a:t>可以讓你一下子就把瑣碎事情也變得井然有序。</a:t>
            </a:r>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4</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5</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smtClean="0"/>
              <a:t>Todoist</a:t>
            </a:r>
            <a:r>
              <a:rPr lang="en-US" altLang="zh-TW" dirty="0" smtClean="0"/>
              <a:t> </a:t>
            </a:r>
            <a:r>
              <a:rPr lang="zh-TW" altLang="en-US" dirty="0" smtClean="0"/>
              <a:t>用看起來非常簡潔的清單，來幫助我們把複雜的專案變成清楚明白的一個一個任務，而且透過許多過濾功能，讓我們專注在當下要做的任務上，不被其他龐雜任務干擾，這種簡化的思維是很棒的設計。</a:t>
            </a:r>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6</a:t>
            </a:fld>
            <a:endParaRPr lang="zh-TW" altLang="en-US"/>
          </a:p>
        </p:txBody>
      </p:sp>
    </p:spTree>
    <p:extLst>
      <p:ext uri="{BB962C8B-B14F-4D97-AF65-F5344CB8AC3E}">
        <p14:creationId xmlns:p14="http://schemas.microsoft.com/office/powerpoint/2010/main" val="121610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smtClean="0"/>
              <a:t>Tom’splanner</a:t>
            </a:r>
            <a:r>
              <a:rPr lang="en-US" altLang="zh-TW" dirty="0" smtClean="0"/>
              <a:t> </a:t>
            </a:r>
            <a:r>
              <a:rPr lang="zh-TW" altLang="en-US" dirty="0" smtClean="0"/>
              <a:t>這套專案管理軟體比較像是用來做為“專案繪圖”的工具軟體，你可以用這套軟體繪製出好看的長條圖，你可以用滑鼠拖拉的方式拉出每個任務的長條圖。</a:t>
            </a:r>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7</a:t>
            </a:fld>
            <a:endParaRPr lang="zh-TW" altLang="en-US"/>
          </a:p>
        </p:txBody>
      </p:sp>
    </p:spTree>
    <p:extLst>
      <p:ext uri="{BB962C8B-B14F-4D97-AF65-F5344CB8AC3E}">
        <p14:creationId xmlns:p14="http://schemas.microsoft.com/office/powerpoint/2010/main" val="29108438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太專業的甘特圖或許很難上手，所以這一款「 </a:t>
            </a:r>
            <a:r>
              <a:rPr lang="en-US" altLang="zh-TW" dirty="0" err="1" smtClean="0"/>
              <a:t>Gantter</a:t>
            </a:r>
            <a:r>
              <a:rPr lang="en-US" altLang="zh-TW" dirty="0" smtClean="0"/>
              <a:t> </a:t>
            </a:r>
            <a:r>
              <a:rPr lang="zh-TW" altLang="en-US" dirty="0" smtClean="0"/>
              <a:t>」相對簡單好上手得多，但是卻具備專業甘特圖需要的自動排程、統計分析功能，而且可以支援微軟的  </a:t>
            </a:r>
            <a:r>
              <a:rPr lang="en-US" altLang="zh-TW" dirty="0" smtClean="0"/>
              <a:t>MS Project  </a:t>
            </a:r>
            <a:r>
              <a:rPr lang="zh-TW" altLang="en-US" dirty="0" smtClean="0"/>
              <a:t>，來因為是雲端服務所有可以多人協同合作。</a:t>
            </a:r>
          </a:p>
          <a:p>
            <a:endParaRPr lang="zh-TW" altLang="en-US" dirty="0" smtClean="0"/>
          </a:p>
          <a:p>
            <a:r>
              <a:rPr lang="zh-TW" altLang="en-US" dirty="0" smtClean="0"/>
              <a:t>或者就算你不用 </a:t>
            </a:r>
            <a:r>
              <a:rPr lang="en-US" altLang="zh-TW" dirty="0" err="1" smtClean="0"/>
              <a:t>Gantter</a:t>
            </a:r>
            <a:r>
              <a:rPr lang="en-US" altLang="zh-TW" dirty="0" smtClean="0"/>
              <a:t> </a:t>
            </a:r>
            <a:r>
              <a:rPr lang="zh-TW" altLang="en-US" dirty="0" smtClean="0"/>
              <a:t>來做專案管理（通常情況下故意去畫甘特圖反而可能是沒有效率的一件事情），但是主管或客戶要求你提供一個進度時程表時，用 </a:t>
            </a:r>
            <a:r>
              <a:rPr lang="en-US" altLang="zh-TW" dirty="0" err="1" smtClean="0"/>
              <a:t>Gantter</a:t>
            </a:r>
            <a:r>
              <a:rPr lang="en-US" altLang="zh-TW" dirty="0" smtClean="0"/>
              <a:t> </a:t>
            </a:r>
            <a:r>
              <a:rPr lang="zh-TW" altLang="en-US" dirty="0" smtClean="0"/>
              <a:t>來快速畫出你的時程表，把複雜的時間簡單化、明確化。</a:t>
            </a:r>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8</a:t>
            </a:fld>
            <a:endParaRPr lang="zh-TW" altLang="en-US"/>
          </a:p>
        </p:txBody>
      </p:sp>
    </p:spTree>
    <p:extLst>
      <p:ext uri="{BB962C8B-B14F-4D97-AF65-F5344CB8AC3E}">
        <p14:creationId xmlns:p14="http://schemas.microsoft.com/office/powerpoint/2010/main" val="3884693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上圖為</a:t>
            </a:r>
            <a:r>
              <a:rPr lang="zh-TW" altLang="en-US" dirty="0" smtClean="0"/>
              <a:t>專案管理工具各項功能的比較</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Trello</a:t>
            </a:r>
            <a:r>
              <a:rPr lang="zh-TW" altLang="en-US" dirty="0" smtClean="0"/>
              <a:t>雖然沒有提供甘特圖跟任務進度條，但他可以對每一個項目設立代辦清單，並且在主頁面就可以看到該項目中上剩餘多少代辦事項須完成，這等同於變相的任務進度條</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err="1" smtClean="0"/>
              <a:t>Todoist</a:t>
            </a:r>
            <a:r>
              <a:rPr lang="zh-TW" altLang="en-US" dirty="0" smtClean="0"/>
              <a:t>優點在於他的畫面簡潔、功能簡單，但也造就了它的功能比較雞肋，連截止日期也無法設定；完成的事項在點擊確認後會立即消失，無法觀看已完成的事項</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Tom’s</a:t>
            </a:r>
            <a:r>
              <a:rPr lang="zh-TW" altLang="en-US" dirty="0" smtClean="0"/>
              <a:t> </a:t>
            </a:r>
            <a:r>
              <a:rPr lang="en-US" altLang="zh-TW" dirty="0" smtClean="0"/>
              <a:t>planner</a:t>
            </a:r>
            <a:r>
              <a:rPr lang="zh-TW" altLang="en-US" dirty="0" smtClean="0"/>
              <a:t>與其說是專案管理工具，不如說是一個提供手動拉出</a:t>
            </a:r>
            <a:r>
              <a:rPr lang="en-US" altLang="zh-TW" dirty="0" smtClean="0"/>
              <a:t>/</a:t>
            </a:r>
            <a:r>
              <a:rPr lang="zh-TW" altLang="en-US" dirty="0" smtClean="0"/>
              <a:t>劃出甘特圖的工具</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err="1" smtClean="0"/>
              <a:t>Gantter</a:t>
            </a:r>
            <a:r>
              <a:rPr lang="zh-TW" altLang="en-US" dirty="0" smtClean="0"/>
              <a:t> 最大的特點在於當你在設定只需開始日期跟該項目的工作天數，就會自動生成甘特圖，還可以該項目是否有前置項目需完成，若有的話該項目的開始日期會自動移到前置項目完成後的時間</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雖然</a:t>
            </a:r>
            <a:r>
              <a:rPr lang="en-US" altLang="zh-TW" dirty="0" err="1" smtClean="0"/>
              <a:t>Gantter</a:t>
            </a:r>
            <a:r>
              <a:rPr lang="zh-TW" altLang="en-US" dirty="0" smtClean="0"/>
              <a:t>功能上最完善，但整題運用上較不直覺化，某些特定功能可能還需要翻使用手冊或是上網搜尋</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而</a:t>
            </a:r>
            <a:r>
              <a:rPr lang="en-US" altLang="zh-TW" dirty="0" smtClean="0"/>
              <a:t>Trello</a:t>
            </a:r>
            <a:r>
              <a:rPr lang="zh-TW" altLang="en-US" dirty="0" smtClean="0"/>
              <a:t>的話就是一個大看板，每一個項目都可以點進去觀看，也可以</a:t>
            </a:r>
            <a:r>
              <a:rPr lang="zh-TW" altLang="en-US" sz="1200" dirty="0" smtClean="0"/>
              <a:t>該項目的詳細描述、到期日、代辦清單進行設定，並且可以附上檔案連結，使用上較為直覺</a:t>
            </a: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9</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10</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11</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12</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13</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14</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15</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16</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17</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18</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19</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20</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21</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22</a:t>
            </a:fld>
            <a:endParaRPr lang="zh-TW" altLang="en-US"/>
          </a:p>
        </p:txBody>
      </p:sp>
    </p:spTree>
    <p:extLst>
      <p:ext uri="{BB962C8B-B14F-4D97-AF65-F5344CB8AC3E}">
        <p14:creationId xmlns:p14="http://schemas.microsoft.com/office/powerpoint/2010/main" val="125735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3B9FF628-B610-489C-AA18-95929AFCFA03}" type="slidenum">
              <a:rPr lang="zh-TW" altLang="en-US" smtClean="0"/>
              <a:t>23</a:t>
            </a:fld>
            <a:endParaRPr lang="zh-TW" altLang="en-US"/>
          </a:p>
        </p:txBody>
      </p:sp>
    </p:spTree>
    <p:extLst>
      <p:ext uri="{BB962C8B-B14F-4D97-AF65-F5344CB8AC3E}">
        <p14:creationId xmlns:p14="http://schemas.microsoft.com/office/powerpoint/2010/main" val="125735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370ADA7B-69AE-4FB8-BE62-2AD289EAB493}" type="datetime1">
              <a:rPr lang="zh-TW" altLang="en-US" smtClean="0"/>
              <a:t>2018/4/16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76E786D5-5343-45DE-BF64-B0C0310D3484}" type="datetime1">
              <a:rPr lang="zh-TW" altLang="en-US" smtClean="0"/>
              <a:t>2018/4/16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2C083EE1-8316-4D22-AA03-FD4D45C5BAD3}" type="datetime1">
              <a:rPr lang="zh-TW" altLang="en-US" smtClean="0"/>
              <a:t>2018/4/16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B934CDF8-FDB9-45B6-936D-7DFABA3726AD}" type="datetime1">
              <a:rPr lang="zh-TW" altLang="en-US" smtClean="0"/>
              <a:t>2018/4/16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7" name="Date Placeholder 6"/>
          <p:cNvSpPr>
            <a:spLocks noGrp="1"/>
          </p:cNvSpPr>
          <p:nvPr>
            <p:ph type="dt" sz="half" idx="10"/>
          </p:nvPr>
        </p:nvSpPr>
        <p:spPr/>
        <p:txBody>
          <a:bodyPr/>
          <a:lstStyle/>
          <a:p>
            <a:fld id="{640511D7-6C42-4F6C-AB1E-A4A2555B89CE}" type="datetime1">
              <a:rPr lang="zh-TW" altLang="en-US" smtClean="0"/>
              <a:t>2018/4/16</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Date Placeholder 2"/>
          <p:cNvSpPr>
            <a:spLocks noGrp="1"/>
          </p:cNvSpPr>
          <p:nvPr>
            <p:ph type="dt" sz="half" idx="10"/>
          </p:nvPr>
        </p:nvSpPr>
        <p:spPr/>
        <p:txBody>
          <a:bodyPr/>
          <a:lstStyle/>
          <a:p>
            <a:fld id="{8CA6A977-3434-473E-93E1-F6BDC9BA99A5}" type="datetime1">
              <a:rPr lang="zh-TW" altLang="en-US" smtClean="0"/>
              <a:t>2018/4/16</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38CFEC-F0D8-4DCB-8F6B-47A3EED44F0A}" type="datetime1">
              <a:rPr lang="zh-TW" altLang="en-US" smtClean="0"/>
              <a:t>2018/4/16</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zh-TW" altLang="en-US" smtClean="0"/>
              <a:t>按一下以編輯母片標題樣式</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CBBA4F54-945D-41D9-8FA1-35B06537F0FB}" type="datetime1">
              <a:rPr lang="zh-TW" altLang="en-US" smtClean="0"/>
              <a:t>2018/4/16</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3B940EE-8762-4AB3-B986-BE3D03098BBE}" type="slidenum">
              <a:rPr lang="zh-TW" altLang="en-US" smtClean="0"/>
              <a:t>‹#›</a:t>
            </a:fld>
            <a:endParaRPr lang="zh-TW" altLang="en-US"/>
          </a:p>
        </p:txBody>
      </p:sp>
      <p:sp>
        <p:nvSpPr>
          <p:cNvPr id="9" name="Content Placeholder 8"/>
          <p:cNvSpPr>
            <a:spLocks noGrp="1"/>
          </p:cNvSpPr>
          <p:nvPr>
            <p:ph sz="quarter" idx="13"/>
          </p:nvPr>
        </p:nvSpPr>
        <p:spPr>
          <a:xfrm>
            <a:off x="406400" y="381000"/>
            <a:ext cx="10363200" cy="494284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zh-TW" altLang="en-US" smtClean="0"/>
              <a:t>按一下以編輯母片標題樣式</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8" name="Date Placeholder 7"/>
          <p:cNvSpPr>
            <a:spLocks noGrp="1"/>
          </p:cNvSpPr>
          <p:nvPr>
            <p:ph type="dt" sz="half" idx="10"/>
          </p:nvPr>
        </p:nvSpPr>
        <p:spPr/>
        <p:txBody>
          <a:bodyPr/>
          <a:lstStyle/>
          <a:p>
            <a:fld id="{6F7F9CEA-4A08-4434-8A8A-9F831268DA7B}" type="datetime1">
              <a:rPr lang="zh-TW" altLang="en-US" smtClean="0"/>
              <a:t>2018/4/16</a:t>
            </a:fld>
            <a:endParaRPr lang="zh-TW" altLang="en-US"/>
          </a:p>
        </p:txBody>
      </p:sp>
      <p:sp>
        <p:nvSpPr>
          <p:cNvPr id="9" name="Slide Number Placeholder 8"/>
          <p:cNvSpPr>
            <a:spLocks noGrp="1"/>
          </p:cNvSpPr>
          <p:nvPr>
            <p:ph type="sldNum" sz="quarter" idx="11"/>
          </p:nvPr>
        </p:nvSpPr>
        <p:spPr/>
        <p:txBody>
          <a:bodyPr/>
          <a:lstStyle/>
          <a:p>
            <a:fld id="{83B940EE-8762-4AB3-B986-BE3D03098BBE}" type="slidenum">
              <a:rPr lang="zh-TW" altLang="en-US" smtClean="0"/>
              <a:t>‹#›</a:t>
            </a:fld>
            <a:endParaRPr lang="zh-TW" altLang="en-US"/>
          </a:p>
        </p:txBody>
      </p:sp>
      <p:sp>
        <p:nvSpPr>
          <p:cNvPr id="10" name="Footer Placeholder 9"/>
          <p:cNvSpPr>
            <a:spLocks noGrp="1"/>
          </p:cNvSpPr>
          <p:nvPr>
            <p:ph type="ftr" sz="quarter" idx="12"/>
          </p:nvPr>
        </p:nvSpPr>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77EE13E0-5A74-4921-BB4A-34746A2B8144}" type="datetime1">
              <a:rPr lang="zh-TW" altLang="en-US" smtClean="0"/>
              <a:t>2018/4/16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279E1C0C-E603-4EE7-A2C3-2BBC2B6C986D}" type="datetime1">
              <a:rPr lang="zh-TW" altLang="en-US" smtClean="0"/>
              <a:t>2018/4/16</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3B940EE-8762-4AB3-B986-BE3D03098BBE}"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83B940EE-8762-4AB3-B986-BE3D03098BBE}" type="slidenum">
              <a:rPr lang="zh-TW" altLang="en-US" smtClean="0"/>
              <a:t>‹#›</a:t>
            </a:fld>
            <a:endParaRPr lang="zh-TW" altLang="en-US"/>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zh-TW" altLang="en-US"/>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11116F28-D1CA-4CA9-BC9C-F98C2C285AE4}" type="datetime1">
              <a:rPr lang="zh-TW" altLang="en-US" smtClean="0"/>
              <a:t>2018/4/16</a:t>
            </a:fld>
            <a:endParaRPr lang="zh-TW"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odoist.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hyperlink" Target="https://www.tomsplanner.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trello.com/"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lay.google.com/store/apps/details?id=com.trello"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hyperlink" Target="https://itunes.apple.com/app/trello-organize-anything/id461504587"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smtClean="0"/>
              <a:t>專案管理工具介紹</a:t>
            </a:r>
            <a:endParaRPr lang="zh-TW" altLang="en-US" dirty="0"/>
          </a:p>
        </p:txBody>
      </p:sp>
      <p:sp>
        <p:nvSpPr>
          <p:cNvPr id="3" name="副標題 2"/>
          <p:cNvSpPr>
            <a:spLocks noGrp="1"/>
          </p:cNvSpPr>
          <p:nvPr>
            <p:ph type="subTitle" idx="1"/>
          </p:nvPr>
        </p:nvSpPr>
        <p:spPr/>
        <p:txBody>
          <a:bodyPr/>
          <a:lstStyle/>
          <a:p>
            <a:r>
              <a:rPr lang="en-US" altLang="zh-TW" dirty="0" smtClean="0"/>
              <a:t>M0629014</a:t>
            </a:r>
            <a:r>
              <a:rPr lang="zh-TW" altLang="en-US" dirty="0" smtClean="0"/>
              <a:t> 王宥憲</a:t>
            </a:r>
            <a:endParaRPr lang="zh-TW" altLang="en-US" dirty="0"/>
          </a:p>
        </p:txBody>
      </p:sp>
      <p:sp>
        <p:nvSpPr>
          <p:cNvPr id="4" name="投影片編號版面配置區 3"/>
          <p:cNvSpPr>
            <a:spLocks noGrp="1"/>
          </p:cNvSpPr>
          <p:nvPr>
            <p:ph type="sldNum" sz="quarter" idx="12"/>
          </p:nvPr>
        </p:nvSpPr>
        <p:spPr/>
        <p:txBody>
          <a:bodyPr/>
          <a:lstStyle/>
          <a:p>
            <a:fld id="{83B940EE-8762-4AB3-B986-BE3D03098BBE}" type="slidenum">
              <a:rPr lang="zh-TW" altLang="en-US" smtClean="0"/>
              <a:t>1</a:t>
            </a:fld>
            <a:endParaRPr lang="zh-TW" altLang="en-US"/>
          </a:p>
        </p:txBody>
      </p:sp>
    </p:spTree>
    <p:extLst>
      <p:ext uri="{BB962C8B-B14F-4D97-AF65-F5344CB8AC3E}">
        <p14:creationId xmlns:p14="http://schemas.microsoft.com/office/powerpoint/2010/main" val="36873551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smtClean="0"/>
              <a:t>專案管理</a:t>
            </a:r>
            <a:endParaRPr lang="en-US" altLang="zh-TW" dirty="0"/>
          </a:p>
        </p:txBody>
      </p:sp>
      <p:sp>
        <p:nvSpPr>
          <p:cNvPr id="4" name="內容版面配置區 3"/>
          <p:cNvSpPr>
            <a:spLocks noGrp="1"/>
          </p:cNvSpPr>
          <p:nvPr>
            <p:ph idx="1"/>
          </p:nvPr>
        </p:nvSpPr>
        <p:spPr>
          <a:xfrm>
            <a:off x="335360" y="1412777"/>
            <a:ext cx="10801200" cy="4713388"/>
          </a:xfrm>
        </p:spPr>
        <p:txBody>
          <a:bodyPr>
            <a:normAutofit/>
          </a:bodyPr>
          <a:lstStyle/>
          <a:p>
            <a:r>
              <a:rPr lang="zh-TW" altLang="en-US" sz="2400" dirty="0"/>
              <a:t>專案的內容包羅萬象，規模大小不一</a:t>
            </a:r>
            <a:r>
              <a:rPr lang="zh-TW" altLang="en-US" sz="2400" dirty="0" smtClean="0"/>
              <a:t>。煮</a:t>
            </a:r>
            <a:r>
              <a:rPr lang="zh-TW" altLang="en-US" sz="2400" dirty="0"/>
              <a:t>一頓飯是個專案，完成一場婚禮是個專案，蓋一棟摩天大樓，也是一項專案。</a:t>
            </a:r>
          </a:p>
          <a:p>
            <a:r>
              <a:rPr lang="zh-TW" altLang="en-US" sz="2400" dirty="0"/>
              <a:t>而專案管理就是指：為了達成目標，所進行的計劃、排程以及控制的種種活動</a:t>
            </a:r>
            <a:r>
              <a:rPr lang="zh-TW" altLang="en-US" sz="2400" dirty="0" smtClean="0"/>
              <a:t>。</a:t>
            </a:r>
            <a:endParaRPr lang="en-US" altLang="zh-TW" sz="2400" dirty="0" smtClean="0"/>
          </a:p>
          <a:p>
            <a:endParaRPr lang="en-US" altLang="zh-TW" sz="2400" dirty="0" smtClean="0"/>
          </a:p>
          <a:p>
            <a:r>
              <a:rPr lang="zh-TW" altLang="en-US" sz="2400" dirty="0"/>
              <a:t>一項專案包含了下列幾項特質： </a:t>
            </a:r>
            <a:endParaRPr lang="en-US" altLang="zh-TW" sz="2400" dirty="0" smtClean="0"/>
          </a:p>
          <a:p>
            <a:pPr lvl="1"/>
            <a:r>
              <a:rPr lang="zh-TW" altLang="en-US" sz="2400" dirty="0" smtClean="0"/>
              <a:t>明確</a:t>
            </a:r>
            <a:r>
              <a:rPr lang="zh-TW" altLang="en-US" sz="2400" dirty="0"/>
              <a:t>的起點和終點（有時間限制） </a:t>
            </a:r>
            <a:endParaRPr lang="en-US" altLang="zh-TW" sz="2400" dirty="0" smtClean="0"/>
          </a:p>
          <a:p>
            <a:pPr lvl="1"/>
            <a:r>
              <a:rPr lang="zh-TW" altLang="en-US" sz="2400" dirty="0" smtClean="0"/>
              <a:t>預算</a:t>
            </a:r>
            <a:r>
              <a:rPr lang="zh-TW" altLang="en-US" sz="2400" dirty="0"/>
              <a:t>（有成本控制） </a:t>
            </a:r>
            <a:endParaRPr lang="en-US" altLang="zh-TW" sz="2400" dirty="0" smtClean="0"/>
          </a:p>
          <a:p>
            <a:pPr lvl="1"/>
            <a:r>
              <a:rPr lang="zh-TW" altLang="en-US" sz="2400" dirty="0" smtClean="0"/>
              <a:t>清楚</a:t>
            </a:r>
            <a:r>
              <a:rPr lang="zh-TW" altLang="en-US" sz="2400" dirty="0"/>
              <a:t>規範的工作範疇 </a:t>
            </a:r>
            <a:endParaRPr lang="en-US" altLang="zh-TW" sz="2400" dirty="0" smtClean="0"/>
          </a:p>
          <a:p>
            <a:pPr lvl="1"/>
            <a:r>
              <a:rPr lang="zh-TW" altLang="en-US" sz="2400" dirty="0" smtClean="0"/>
              <a:t>特定</a:t>
            </a:r>
            <a:r>
              <a:rPr lang="zh-TW" altLang="en-US" sz="2400" dirty="0"/>
              <a:t>的</a:t>
            </a:r>
            <a:r>
              <a:rPr lang="zh-TW" altLang="en-US" sz="2400" dirty="0" smtClean="0"/>
              <a:t>成果</a:t>
            </a:r>
            <a:endParaRPr lang="zh-TW" altLang="en-US" sz="2400" dirty="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2</a:t>
            </a:fld>
            <a:endParaRPr lang="zh-TW" altLang="en-US"/>
          </a:p>
        </p:txBody>
      </p:sp>
    </p:spTree>
    <p:extLst>
      <p:ext uri="{BB962C8B-B14F-4D97-AF65-F5344CB8AC3E}">
        <p14:creationId xmlns:p14="http://schemas.microsoft.com/office/powerpoint/2010/main" val="39265284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a:t>專案管理</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a:t>專案管理本身應該要很有彈性，就算你不使用專業的專案管理軟體（因為那通常有上手門檻），也可以用一本筆記本、一個會議室白板來做管理</a:t>
            </a:r>
            <a:r>
              <a:rPr lang="zh-TW" altLang="en-US" sz="2400" dirty="0" smtClean="0"/>
              <a:t>。</a:t>
            </a:r>
            <a:endParaRPr lang="en-US" altLang="zh-TW" sz="2400" dirty="0" smtClean="0"/>
          </a:p>
          <a:p>
            <a:endParaRPr lang="en-US" altLang="zh-TW" sz="2400" dirty="0"/>
          </a:p>
          <a:p>
            <a:r>
              <a:rPr lang="zh-TW" altLang="en-US" sz="2400" dirty="0"/>
              <a:t>當你有一個大計畫需要按照進度執行，當你需要統整管理所有工作的任務與資料，或是當你必須掌控或參與一個團隊的合作，這時候，你或是你們團隊就需要一個好用的專案管理工具</a:t>
            </a:r>
            <a:endParaRPr lang="en-US" altLang="zh-TW" sz="2400" dirty="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3</a:t>
            </a:fld>
            <a:endParaRPr lang="zh-TW" altLang="en-US"/>
          </a:p>
        </p:txBody>
      </p:sp>
    </p:spTree>
    <p:extLst>
      <p:ext uri="{BB962C8B-B14F-4D97-AF65-F5344CB8AC3E}">
        <p14:creationId xmlns:p14="http://schemas.microsoft.com/office/powerpoint/2010/main" val="4097188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a:t>專案</a:t>
            </a:r>
            <a:r>
              <a:rPr lang="zh-TW" altLang="en-US" dirty="0" smtClean="0"/>
              <a:t>管理工具</a:t>
            </a:r>
            <a:r>
              <a:rPr lang="en-US" altLang="zh-TW" dirty="0" smtClean="0"/>
              <a:t>(1)</a:t>
            </a:r>
            <a:r>
              <a:rPr lang="zh-TW" altLang="en-US" dirty="0" smtClean="0"/>
              <a:t>  </a:t>
            </a:r>
            <a:r>
              <a:rPr lang="en-US" altLang="zh-TW" dirty="0" smtClean="0"/>
              <a:t>Trello</a:t>
            </a:r>
            <a:endParaRPr lang="en-US" altLang="zh-TW" dirty="0"/>
          </a:p>
        </p:txBody>
      </p:sp>
      <p:sp>
        <p:nvSpPr>
          <p:cNvPr id="4" name="內容版面配置區 3"/>
          <p:cNvSpPr>
            <a:spLocks noGrp="1"/>
          </p:cNvSpPr>
          <p:nvPr>
            <p:ph idx="1"/>
          </p:nvPr>
        </p:nvSpPr>
        <p:spPr>
          <a:xfrm>
            <a:off x="335360" y="1412777"/>
            <a:ext cx="11247040" cy="4713388"/>
          </a:xfrm>
        </p:spPr>
        <p:txBody>
          <a:bodyPr>
            <a:normAutofit/>
          </a:bodyPr>
          <a:lstStyle/>
          <a:p>
            <a:r>
              <a:rPr lang="en-US" altLang="zh-TW" sz="2400" dirty="0"/>
              <a:t>https://trello.com/</a:t>
            </a:r>
            <a:endParaRPr lang="en-US" altLang="zh-TW" sz="2400" dirty="0" smtClean="0"/>
          </a:p>
          <a:p>
            <a:r>
              <a:rPr lang="zh-TW" altLang="en-US" sz="2400" dirty="0" smtClean="0"/>
              <a:t>看板</a:t>
            </a:r>
            <a:r>
              <a:rPr lang="zh-TW" altLang="en-US" sz="2400" dirty="0"/>
              <a:t>管理法、便利貼牆</a:t>
            </a:r>
            <a:r>
              <a:rPr lang="zh-TW" altLang="en-US" sz="2400" dirty="0" smtClean="0"/>
              <a:t>、把</a:t>
            </a:r>
            <a:r>
              <a:rPr lang="zh-TW" altLang="en-US" sz="2400" dirty="0"/>
              <a:t>瑣碎的任務，變成有條理的進度</a:t>
            </a:r>
            <a:r>
              <a:rPr lang="zh-TW" altLang="en-US" sz="2400" dirty="0" smtClean="0"/>
              <a:t>看板。</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4</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3703" y="2492896"/>
            <a:ext cx="8328248" cy="3849908"/>
          </a:xfrm>
          <a:prstGeom prst="rect">
            <a:avLst/>
          </a:prstGeom>
        </p:spPr>
      </p:pic>
    </p:spTree>
    <p:extLst>
      <p:ext uri="{BB962C8B-B14F-4D97-AF65-F5344CB8AC3E}">
        <p14:creationId xmlns:p14="http://schemas.microsoft.com/office/powerpoint/2010/main" val="24688427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a:t>專案</a:t>
            </a:r>
            <a:r>
              <a:rPr lang="zh-TW" altLang="en-US" dirty="0" smtClean="0"/>
              <a:t>管理工具</a:t>
            </a:r>
            <a:r>
              <a:rPr lang="en-US" altLang="zh-TW" dirty="0" smtClean="0"/>
              <a:t>(1)</a:t>
            </a:r>
            <a:r>
              <a:rPr lang="zh-TW" altLang="en-US" dirty="0" smtClean="0"/>
              <a:t>  </a:t>
            </a:r>
            <a:r>
              <a:rPr lang="en-US" altLang="zh-TW" dirty="0" smtClean="0"/>
              <a:t>Trello</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每個卡片內部可以對該項目的詳細描述、到期日</a:t>
            </a:r>
            <a:r>
              <a:rPr lang="zh-TW" altLang="en-US" sz="2400" dirty="0"/>
              <a:t>、代辦</a:t>
            </a:r>
            <a:r>
              <a:rPr lang="zh-TW" altLang="en-US" sz="2400" dirty="0" smtClean="0"/>
              <a:t>清單進行設定，並且可以附上檔案連結。</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5</a:t>
            </a:fld>
            <a:endParaRPr lang="zh-TW" altLang="en-US"/>
          </a:p>
        </p:txBody>
      </p:sp>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512" y="2420888"/>
            <a:ext cx="9065637" cy="3982591"/>
          </a:xfrm>
          <a:prstGeom prst="rect">
            <a:avLst/>
          </a:prstGeom>
        </p:spPr>
      </p:pic>
    </p:spTree>
    <p:extLst>
      <p:ext uri="{BB962C8B-B14F-4D97-AF65-F5344CB8AC3E}">
        <p14:creationId xmlns:p14="http://schemas.microsoft.com/office/powerpoint/2010/main" val="38418470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a:t>專案</a:t>
            </a:r>
            <a:r>
              <a:rPr lang="zh-TW" altLang="en-US" dirty="0" smtClean="0"/>
              <a:t>管理工具</a:t>
            </a:r>
            <a:r>
              <a:rPr lang="en-US" altLang="zh-TW" dirty="0" smtClean="0"/>
              <a:t>(2)</a:t>
            </a:r>
            <a:r>
              <a:rPr lang="zh-TW" altLang="en-US" dirty="0" smtClean="0"/>
              <a:t> </a:t>
            </a:r>
            <a:r>
              <a:rPr lang="en-US" altLang="zh-TW" dirty="0" err="1"/>
              <a:t>Todoist</a:t>
            </a:r>
            <a:endParaRPr lang="en-US" altLang="zh-TW" dirty="0"/>
          </a:p>
        </p:txBody>
      </p:sp>
      <p:sp>
        <p:nvSpPr>
          <p:cNvPr id="4" name="內容版面配置區 3"/>
          <p:cNvSpPr>
            <a:spLocks noGrp="1"/>
          </p:cNvSpPr>
          <p:nvPr>
            <p:ph idx="1"/>
          </p:nvPr>
        </p:nvSpPr>
        <p:spPr>
          <a:xfrm>
            <a:off x="335360" y="1412777"/>
            <a:ext cx="11247040" cy="4713388"/>
          </a:xfrm>
        </p:spPr>
        <p:txBody>
          <a:bodyPr>
            <a:normAutofit/>
          </a:bodyPr>
          <a:lstStyle/>
          <a:p>
            <a:r>
              <a:rPr lang="en-US" altLang="zh-TW" sz="2400" dirty="0">
                <a:hlinkClick r:id="rId3"/>
              </a:rPr>
              <a:t>https://todoist.com</a:t>
            </a:r>
            <a:r>
              <a:rPr lang="en-US" altLang="zh-TW" sz="2400" dirty="0" smtClean="0">
                <a:hlinkClick r:id="rId3"/>
              </a:rPr>
              <a:t>/</a:t>
            </a:r>
            <a:endParaRPr lang="en-US" altLang="zh-TW" sz="2400" dirty="0" smtClean="0"/>
          </a:p>
          <a:p>
            <a:r>
              <a:rPr lang="zh-TW" altLang="en-US" sz="2400" dirty="0" smtClean="0"/>
              <a:t>把進行</a:t>
            </a:r>
            <a:r>
              <a:rPr lang="zh-TW" altLang="en-US" sz="2400" dirty="0"/>
              <a:t>的專案，變成簡單分類</a:t>
            </a:r>
            <a:r>
              <a:rPr lang="zh-TW" altLang="en-US" sz="2400" dirty="0" smtClean="0"/>
              <a:t>的</a:t>
            </a:r>
            <a:r>
              <a:rPr lang="zh-TW" altLang="en-US" sz="2400" dirty="0"/>
              <a:t>待辦清單</a:t>
            </a:r>
            <a:endParaRPr lang="en-US" altLang="zh-TW" sz="2400" dirty="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6</a:t>
            </a:fld>
            <a:endParaRPr lang="zh-TW" altLang="en-US"/>
          </a:p>
        </p:txBody>
      </p:sp>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23592" y="2348878"/>
            <a:ext cx="7346404" cy="4158915"/>
          </a:xfrm>
          <a:prstGeom prst="rect">
            <a:avLst/>
          </a:prstGeom>
        </p:spPr>
      </p:pic>
    </p:spTree>
    <p:extLst>
      <p:ext uri="{BB962C8B-B14F-4D97-AF65-F5344CB8AC3E}">
        <p14:creationId xmlns:p14="http://schemas.microsoft.com/office/powerpoint/2010/main" val="519415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smtClean="0"/>
              <a:t>專案管理工具</a:t>
            </a:r>
            <a:r>
              <a:rPr lang="en-US" altLang="zh-TW" dirty="0" smtClean="0"/>
              <a:t>(3)</a:t>
            </a:r>
            <a:r>
              <a:rPr lang="zh-TW" altLang="en-US" dirty="0" smtClean="0"/>
              <a:t> </a:t>
            </a:r>
            <a:r>
              <a:rPr lang="en-US" altLang="zh-TW" dirty="0" err="1"/>
              <a:t>Tom’splanner</a:t>
            </a:r>
            <a:endParaRPr lang="en-US" altLang="zh-TW" dirty="0"/>
          </a:p>
        </p:txBody>
      </p:sp>
      <p:sp>
        <p:nvSpPr>
          <p:cNvPr id="4" name="內容版面配置區 3"/>
          <p:cNvSpPr>
            <a:spLocks noGrp="1"/>
          </p:cNvSpPr>
          <p:nvPr>
            <p:ph idx="1"/>
          </p:nvPr>
        </p:nvSpPr>
        <p:spPr>
          <a:xfrm>
            <a:off x="335360" y="1412777"/>
            <a:ext cx="10801200" cy="4713388"/>
          </a:xfrm>
        </p:spPr>
        <p:txBody>
          <a:bodyPr>
            <a:normAutofit/>
          </a:bodyPr>
          <a:lstStyle/>
          <a:p>
            <a:r>
              <a:rPr lang="en-US" altLang="zh-TW" sz="2400" dirty="0">
                <a:hlinkClick r:id="rId3"/>
              </a:rPr>
              <a:t>https://www.tomsplanner.com</a:t>
            </a:r>
            <a:r>
              <a:rPr lang="en-US" altLang="zh-TW" sz="2400" dirty="0" smtClean="0">
                <a:hlinkClick r:id="rId3"/>
              </a:rPr>
              <a:t>/</a:t>
            </a:r>
            <a:endParaRPr lang="en-US" altLang="zh-TW" sz="2400" dirty="0" smtClean="0"/>
          </a:p>
          <a:p>
            <a:r>
              <a:rPr lang="zh-TW" altLang="en-US" sz="2400" dirty="0"/>
              <a:t>可以用這套軟體繪製出好看的長條圖，你可以用滑鼠拖拉的方式拉出每個任務的長條圖。</a:t>
            </a:r>
            <a:endParaRPr lang="en-US" altLang="zh-TW" sz="2400" dirty="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7</a:t>
            </a:fld>
            <a:endParaRPr lang="zh-TW" altLang="en-US"/>
          </a:p>
        </p:txBody>
      </p:sp>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2024" y="2636912"/>
            <a:ext cx="8568952" cy="3873868"/>
          </a:xfrm>
          <a:prstGeom prst="rect">
            <a:avLst/>
          </a:prstGeom>
        </p:spPr>
      </p:pic>
    </p:spTree>
    <p:extLst>
      <p:ext uri="{BB962C8B-B14F-4D97-AF65-F5344CB8AC3E}">
        <p14:creationId xmlns:p14="http://schemas.microsoft.com/office/powerpoint/2010/main" val="519415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a:t>專案</a:t>
            </a:r>
            <a:r>
              <a:rPr lang="zh-TW" altLang="en-US" dirty="0" smtClean="0"/>
              <a:t>管理工具</a:t>
            </a:r>
            <a:r>
              <a:rPr lang="en-US" altLang="zh-TW" dirty="0" smtClean="0"/>
              <a:t>(4)</a:t>
            </a:r>
            <a:r>
              <a:rPr lang="zh-TW" altLang="en-US" dirty="0" smtClean="0"/>
              <a:t> </a:t>
            </a:r>
            <a:r>
              <a:rPr lang="en-US" altLang="zh-TW" dirty="0" err="1"/>
              <a:t>Gantter</a:t>
            </a:r>
            <a:r>
              <a:rPr lang="en-US" altLang="zh-TW" dirty="0"/>
              <a:t> </a:t>
            </a:r>
            <a:endParaRPr lang="en-US" altLang="zh-TW" dirty="0"/>
          </a:p>
        </p:txBody>
      </p:sp>
      <p:sp>
        <p:nvSpPr>
          <p:cNvPr id="4" name="內容版面配置區 3"/>
          <p:cNvSpPr>
            <a:spLocks noGrp="1"/>
          </p:cNvSpPr>
          <p:nvPr>
            <p:ph idx="1"/>
          </p:nvPr>
        </p:nvSpPr>
        <p:spPr>
          <a:xfrm>
            <a:off x="335360" y="1412777"/>
            <a:ext cx="11247040" cy="4713388"/>
          </a:xfrm>
        </p:spPr>
        <p:txBody>
          <a:bodyPr>
            <a:normAutofit/>
          </a:bodyPr>
          <a:lstStyle/>
          <a:p>
            <a:r>
              <a:rPr lang="en-US" altLang="zh-TW" sz="2400" dirty="0"/>
              <a:t>https://www.gantter.com/</a:t>
            </a:r>
            <a:endParaRPr lang="en-US" altLang="zh-TW" sz="2400" dirty="0" smtClean="0"/>
          </a:p>
          <a:p>
            <a:r>
              <a:rPr lang="zh-TW" altLang="en-US" sz="2400" dirty="0" smtClean="0"/>
              <a:t>畫時</a:t>
            </a:r>
            <a:r>
              <a:rPr lang="zh-TW" altLang="en-US" sz="2400" dirty="0"/>
              <a:t>程表、協調團隊進度、滿足甘特圖</a:t>
            </a:r>
            <a:r>
              <a:rPr lang="zh-TW" altLang="en-US" sz="2400" dirty="0" smtClean="0"/>
              <a:t>需求，把</a:t>
            </a:r>
            <a:r>
              <a:rPr lang="zh-TW" altLang="en-US" sz="2400" dirty="0"/>
              <a:t>複雜</a:t>
            </a:r>
            <a:r>
              <a:rPr lang="zh-TW" altLang="en-US" sz="2400" dirty="0" smtClean="0"/>
              <a:t>進度變成</a:t>
            </a:r>
            <a:r>
              <a:rPr lang="zh-TW" altLang="en-US" sz="2400" dirty="0"/>
              <a:t>簡單時間圖表</a:t>
            </a:r>
            <a:endParaRPr lang="en-US" altLang="zh-TW" sz="2400" dirty="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8</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235" y="2420888"/>
            <a:ext cx="8608268" cy="4304134"/>
          </a:xfrm>
          <a:prstGeom prst="rect">
            <a:avLst/>
          </a:prstGeom>
        </p:spPr>
      </p:pic>
    </p:spTree>
    <p:extLst>
      <p:ext uri="{BB962C8B-B14F-4D97-AF65-F5344CB8AC3E}">
        <p14:creationId xmlns:p14="http://schemas.microsoft.com/office/powerpoint/2010/main" val="519415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zh-TW" altLang="en-US" dirty="0"/>
              <a:t>專案</a:t>
            </a:r>
            <a:r>
              <a:rPr lang="zh-TW" altLang="en-US" dirty="0" smtClean="0"/>
              <a:t>管理工具比較</a:t>
            </a:r>
            <a:endParaRPr lang="en-US" altLang="zh-TW" dirty="0"/>
          </a:p>
        </p:txBody>
      </p:sp>
      <p:sp>
        <p:nvSpPr>
          <p:cNvPr id="4" name="內容版面配置區 3"/>
          <p:cNvSpPr>
            <a:spLocks noGrp="1"/>
          </p:cNvSpPr>
          <p:nvPr>
            <p:ph idx="1"/>
          </p:nvPr>
        </p:nvSpPr>
        <p:spPr>
          <a:xfrm>
            <a:off x="335360" y="1412777"/>
            <a:ext cx="10945216" cy="4713388"/>
          </a:xfrm>
        </p:spPr>
        <p:txBody>
          <a:bodyPr>
            <a:normAutofit/>
          </a:bodyPr>
          <a:lstStyle/>
          <a:p>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9</a:t>
            </a:fld>
            <a:endParaRPr lang="zh-TW" altLang="en-US"/>
          </a:p>
        </p:txBody>
      </p:sp>
      <p:graphicFrame>
        <p:nvGraphicFramePr>
          <p:cNvPr id="3" name="表格 2"/>
          <p:cNvGraphicFramePr>
            <a:graphicFrameLocks noGrp="1"/>
          </p:cNvGraphicFramePr>
          <p:nvPr>
            <p:extLst>
              <p:ext uri="{D42A27DB-BD31-4B8C-83A1-F6EECF244321}">
                <p14:modId xmlns:p14="http://schemas.microsoft.com/office/powerpoint/2010/main" val="4128613903"/>
              </p:ext>
            </p:extLst>
          </p:nvPr>
        </p:nvGraphicFramePr>
        <p:xfrm>
          <a:off x="191344" y="1484784"/>
          <a:ext cx="11089230" cy="4483301"/>
        </p:xfrm>
        <a:graphic>
          <a:graphicData uri="http://schemas.openxmlformats.org/drawingml/2006/table">
            <a:tbl>
              <a:tblPr firstRow="1" bandRow="1">
                <a:tableStyleId>{5C22544A-7EE6-4342-B048-85BDC9FD1C3A}</a:tableStyleId>
              </a:tblPr>
              <a:tblGrid>
                <a:gridCol w="2217846"/>
                <a:gridCol w="2217846"/>
                <a:gridCol w="2217846"/>
                <a:gridCol w="2217846"/>
                <a:gridCol w="2217846"/>
              </a:tblGrid>
              <a:tr h="549462">
                <a:tc>
                  <a:txBody>
                    <a:bodyPr/>
                    <a:lstStyle/>
                    <a:p>
                      <a:endParaRPr lang="zh-TW" altLang="en-US" dirty="0"/>
                    </a:p>
                  </a:txBody>
                  <a:tcPr/>
                </a:tc>
                <a:tc>
                  <a:txBody>
                    <a:bodyPr/>
                    <a:lstStyle/>
                    <a:p>
                      <a:r>
                        <a:rPr lang="en-US" altLang="zh-TW" dirty="0" smtClean="0"/>
                        <a:t>Trello</a:t>
                      </a:r>
                      <a:endParaRPr lang="zh-TW" altLang="en-US" dirty="0"/>
                    </a:p>
                  </a:txBody>
                  <a:tcPr/>
                </a:tc>
                <a:tc>
                  <a:txBody>
                    <a:bodyPr/>
                    <a:lstStyle/>
                    <a:p>
                      <a:r>
                        <a:rPr lang="en-US" altLang="zh-TW" dirty="0" err="1" smtClean="0"/>
                        <a:t>Todoist</a:t>
                      </a:r>
                      <a:endParaRPr lang="zh-TW" altLang="en-US" dirty="0"/>
                    </a:p>
                  </a:txBody>
                  <a:tcPr/>
                </a:tc>
                <a:tc>
                  <a:txBody>
                    <a:bodyPr/>
                    <a:lstStyle/>
                    <a:p>
                      <a:r>
                        <a:rPr lang="en-US" altLang="zh-TW" dirty="0" err="1" smtClean="0"/>
                        <a:t>Tom’splanner</a:t>
                      </a:r>
                      <a:endParaRPr lang="zh-TW" altLang="en-US" dirty="0"/>
                    </a:p>
                  </a:txBody>
                  <a:tcPr/>
                </a:tc>
                <a:tc>
                  <a:txBody>
                    <a:bodyPr/>
                    <a:lstStyle/>
                    <a:p>
                      <a:r>
                        <a:rPr lang="en-US" altLang="zh-TW" dirty="0" err="1" smtClean="0"/>
                        <a:t>Gantter</a:t>
                      </a:r>
                      <a:endParaRPr lang="zh-TW" altLang="en-US" dirty="0"/>
                    </a:p>
                  </a:txBody>
                  <a:tcPr/>
                </a:tc>
              </a:tr>
              <a:tr h="549462">
                <a:tc>
                  <a:txBody>
                    <a:bodyPr/>
                    <a:lstStyle/>
                    <a:p>
                      <a:r>
                        <a:rPr lang="zh-TW" altLang="en-US" dirty="0" smtClean="0"/>
                        <a:t>甘特圖</a:t>
                      </a:r>
                      <a:endParaRPr lang="zh-TW" altLang="en-US" dirty="0"/>
                    </a:p>
                  </a:txBody>
                  <a:tcPr/>
                </a:tc>
                <a:tc>
                  <a:txBody>
                    <a:bodyPr/>
                    <a:lstStyle/>
                    <a:p>
                      <a:r>
                        <a:rPr lang="en-US" altLang="zh-TW" dirty="0" smtClean="0"/>
                        <a:t>X</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X</a:t>
                      </a:r>
                      <a:endParaRPr lang="zh-TW" altLang="en-US" dirty="0" smtClean="0"/>
                    </a:p>
                  </a:txBody>
                  <a:tcPr/>
                </a:tc>
                <a:tc>
                  <a:txBody>
                    <a:bodyPr/>
                    <a:lstStyle/>
                    <a:p>
                      <a:r>
                        <a:rPr lang="en-US" altLang="zh-TW" dirty="0" smtClean="0"/>
                        <a:t>V(</a:t>
                      </a:r>
                      <a:r>
                        <a:rPr lang="zh-TW" altLang="en-US" dirty="0" smtClean="0"/>
                        <a:t>手動</a:t>
                      </a:r>
                      <a:r>
                        <a:rPr lang="en-US" altLang="zh-TW" dirty="0" smtClean="0"/>
                        <a:t>)</a:t>
                      </a:r>
                      <a:endParaRPr lang="zh-TW" altLang="en-US" dirty="0"/>
                    </a:p>
                  </a:txBody>
                  <a:tcPr/>
                </a:tc>
                <a:tc>
                  <a:txBody>
                    <a:bodyPr/>
                    <a:lstStyle/>
                    <a:p>
                      <a:r>
                        <a:rPr lang="en-US" altLang="zh-TW" dirty="0" smtClean="0"/>
                        <a:t>V(</a:t>
                      </a:r>
                      <a:r>
                        <a:rPr lang="zh-TW" altLang="en-US" dirty="0" smtClean="0"/>
                        <a:t>自動生成</a:t>
                      </a:r>
                      <a:r>
                        <a:rPr lang="en-US" altLang="zh-TW" dirty="0" smtClean="0"/>
                        <a:t>)</a:t>
                      </a:r>
                      <a:endParaRPr lang="zh-TW" altLang="en-US" dirty="0"/>
                    </a:p>
                  </a:txBody>
                  <a:tcPr/>
                </a:tc>
              </a:tr>
              <a:tr h="637067">
                <a:tc>
                  <a:txBody>
                    <a:bodyPr/>
                    <a:lstStyle/>
                    <a:p>
                      <a:r>
                        <a:rPr lang="zh-TW" altLang="en-US" dirty="0" smtClean="0"/>
                        <a:t>匯入</a:t>
                      </a:r>
                      <a:r>
                        <a:rPr lang="en-US" altLang="zh-TW" dirty="0" smtClean="0"/>
                        <a:t>/</a:t>
                      </a:r>
                      <a:r>
                        <a:rPr lang="zh-TW" altLang="en-US" dirty="0" smtClean="0"/>
                        <a:t>匯出</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JSON</a:t>
                      </a:r>
                      <a:r>
                        <a:rPr lang="zh-TW" altLang="en-US" dirty="0" smtClean="0"/>
                        <a:t>、</a:t>
                      </a:r>
                      <a:r>
                        <a:rPr lang="en-US" altLang="zh-TW" dirty="0" smtClean="0"/>
                        <a:t>(</a:t>
                      </a:r>
                      <a:r>
                        <a:rPr lang="zh-TW" altLang="en-US" dirty="0" smtClean="0"/>
                        <a:t>須付費</a:t>
                      </a:r>
                      <a:r>
                        <a:rPr lang="en-US" altLang="zh-TW" dirty="0" smtClean="0"/>
                        <a:t>)</a:t>
                      </a:r>
                      <a:r>
                        <a:rPr lang="en-US" altLang="zh-TW" dirty="0" smtClean="0"/>
                        <a:t>CSV</a:t>
                      </a:r>
                      <a:endParaRPr lang="zh-TW" altLang="en-US" dirty="0"/>
                    </a:p>
                  </a:txBody>
                  <a:tcPr/>
                </a:tc>
                <a:tc>
                  <a:txBody>
                    <a:bodyPr/>
                    <a:lstStyle/>
                    <a:p>
                      <a:r>
                        <a:rPr lang="en-US" altLang="zh-TW" dirty="0" smtClean="0"/>
                        <a:t>X</a:t>
                      </a:r>
                      <a:endParaRPr lang="zh-TW" altLang="en-US" dirty="0"/>
                    </a:p>
                  </a:txBody>
                  <a:tcPr/>
                </a:tc>
                <a:tc>
                  <a:txBody>
                    <a:bodyPr/>
                    <a:lstStyle/>
                    <a:p>
                      <a:r>
                        <a:rPr lang="en-US" altLang="zh-TW" dirty="0" smtClean="0"/>
                        <a:t>EXCEL</a:t>
                      </a:r>
                      <a:r>
                        <a:rPr lang="zh-TW" altLang="en-US" dirty="0" smtClean="0"/>
                        <a:t>、</a:t>
                      </a:r>
                      <a:r>
                        <a:rPr lang="en-US" altLang="zh-TW" dirty="0" smtClean="0"/>
                        <a:t>JSON</a:t>
                      </a:r>
                      <a:r>
                        <a:rPr lang="zh-TW" altLang="en-US" dirty="0" smtClean="0"/>
                        <a:t>、</a:t>
                      </a:r>
                      <a:r>
                        <a:rPr lang="en-US" altLang="zh-TW" dirty="0" smtClean="0"/>
                        <a:t>CSV</a:t>
                      </a:r>
                      <a:endParaRPr lang="en-US" altLang="zh-TW" dirty="0" smtClean="0"/>
                    </a:p>
                  </a:txBody>
                  <a:tcPr/>
                </a:tc>
                <a:tc>
                  <a:txBody>
                    <a:bodyPr/>
                    <a:lstStyle/>
                    <a:p>
                      <a:r>
                        <a:rPr lang="en-US" altLang="zh-TW" dirty="0" smtClean="0"/>
                        <a:t>MS</a:t>
                      </a:r>
                      <a:r>
                        <a:rPr lang="zh-TW" altLang="en-US" dirty="0" smtClean="0"/>
                        <a:t> </a:t>
                      </a:r>
                      <a:r>
                        <a:rPr lang="en-US" altLang="zh-TW" dirty="0" smtClean="0"/>
                        <a:t>Project</a:t>
                      </a:r>
                      <a:endParaRPr lang="zh-TW" altLang="en-US" dirty="0"/>
                    </a:p>
                  </a:txBody>
                  <a:tcPr/>
                </a:tc>
              </a:tr>
              <a:tr h="549462">
                <a:tc>
                  <a:txBody>
                    <a:bodyPr/>
                    <a:lstStyle/>
                    <a:p>
                      <a:r>
                        <a:rPr lang="zh-TW" altLang="en-US" dirty="0" smtClean="0"/>
                        <a:t>任務進度條</a:t>
                      </a:r>
                      <a:endParaRPr lang="zh-TW" altLang="en-US" dirty="0"/>
                    </a:p>
                  </a:txBody>
                  <a:tcPr/>
                </a:tc>
                <a:tc>
                  <a:txBody>
                    <a:bodyPr/>
                    <a:lstStyle/>
                    <a:p>
                      <a:r>
                        <a:rPr lang="en-US" altLang="zh-TW" dirty="0" smtClean="0"/>
                        <a:t>X(</a:t>
                      </a:r>
                      <a:r>
                        <a:rPr lang="zh-TW" altLang="en-US" dirty="0" smtClean="0"/>
                        <a:t>代辦清單</a:t>
                      </a:r>
                      <a:r>
                        <a:rPr lang="en-US" altLang="zh-TW" dirty="0" smtClean="0"/>
                        <a:t>)</a:t>
                      </a:r>
                      <a:endParaRPr lang="zh-TW" altLang="en-US" dirty="0"/>
                    </a:p>
                  </a:txBody>
                  <a:tcPr/>
                </a:tc>
                <a:tc>
                  <a:txBody>
                    <a:bodyPr/>
                    <a:lstStyle/>
                    <a:p>
                      <a:r>
                        <a:rPr lang="en-US" altLang="zh-TW" dirty="0" smtClean="0"/>
                        <a:t>X(</a:t>
                      </a:r>
                      <a:r>
                        <a:rPr lang="zh-TW" altLang="en-US" dirty="0" smtClean="0"/>
                        <a:t>代辦清單</a:t>
                      </a:r>
                      <a:r>
                        <a:rPr lang="en-US" altLang="zh-TW" dirty="0" smtClean="0"/>
                        <a:t>)</a:t>
                      </a:r>
                      <a:endParaRPr lang="zh-TW" altLang="en-US" dirty="0"/>
                    </a:p>
                  </a:txBody>
                  <a:tcPr/>
                </a:tc>
                <a:tc>
                  <a:txBody>
                    <a:bodyPr/>
                    <a:lstStyle/>
                    <a:p>
                      <a:r>
                        <a:rPr lang="en-US" altLang="zh-TW" dirty="0" smtClean="0"/>
                        <a:t>X</a:t>
                      </a:r>
                      <a:endParaRPr lang="zh-TW" altLang="en-US" dirty="0"/>
                    </a:p>
                  </a:txBody>
                  <a:tcPr/>
                </a:tc>
                <a:tc>
                  <a:txBody>
                    <a:bodyPr/>
                    <a:lstStyle/>
                    <a:p>
                      <a:r>
                        <a:rPr lang="en-US" altLang="zh-TW" dirty="0" smtClean="0"/>
                        <a:t>V</a:t>
                      </a:r>
                      <a:endParaRPr lang="zh-TW" altLang="en-US" dirty="0"/>
                    </a:p>
                  </a:txBody>
                  <a:tcPr/>
                </a:tc>
              </a:tr>
              <a:tr h="549462">
                <a:tc>
                  <a:txBody>
                    <a:bodyPr/>
                    <a:lstStyle/>
                    <a:p>
                      <a:r>
                        <a:rPr lang="zh-TW" altLang="en-US" dirty="0" smtClean="0"/>
                        <a:t>共享</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V(</a:t>
                      </a:r>
                      <a:r>
                        <a:rPr lang="zh-TW" altLang="en-US" dirty="0" smtClean="0"/>
                        <a:t>僅限</a:t>
                      </a:r>
                      <a:r>
                        <a:rPr lang="en-US" altLang="zh-TW" dirty="0" smtClean="0"/>
                        <a:t>Trello</a:t>
                      </a:r>
                      <a:r>
                        <a:rPr lang="zh-TW" altLang="en-US" dirty="0" smtClean="0"/>
                        <a:t>帳號</a:t>
                      </a:r>
                      <a:r>
                        <a:rPr lang="en-US" altLang="zh-TW" dirty="0" smtClean="0"/>
                        <a:t>)</a:t>
                      </a:r>
                      <a:endParaRPr lang="zh-TW" altLang="en-US" dirty="0"/>
                    </a:p>
                  </a:txBody>
                  <a:tcPr/>
                </a:tc>
                <a:tc>
                  <a:txBody>
                    <a:bodyPr/>
                    <a:lstStyle/>
                    <a:p>
                      <a:r>
                        <a:rPr lang="en-US" altLang="zh-TW" dirty="0" smtClean="0"/>
                        <a:t>V(</a:t>
                      </a:r>
                      <a:r>
                        <a:rPr lang="zh-TW" altLang="en-US" dirty="0" smtClean="0"/>
                        <a:t>須付費</a:t>
                      </a:r>
                      <a:r>
                        <a:rPr lang="en-US" altLang="zh-TW" dirty="0" smtClean="0"/>
                        <a:t>)</a:t>
                      </a:r>
                      <a:endParaRPr lang="zh-TW" altLang="en-US" dirty="0"/>
                    </a:p>
                  </a:txBody>
                  <a:tcPr/>
                </a:tc>
                <a:tc>
                  <a:txBody>
                    <a:bodyPr/>
                    <a:lstStyle/>
                    <a:p>
                      <a:r>
                        <a:rPr lang="en-US" altLang="zh-TW" dirty="0" smtClean="0"/>
                        <a:t>V(</a:t>
                      </a:r>
                      <a:r>
                        <a:rPr lang="zh-TW" altLang="en-US" dirty="0" smtClean="0"/>
                        <a:t>須付費</a:t>
                      </a:r>
                      <a:r>
                        <a:rPr lang="en-US" altLang="zh-TW" dirty="0" smtClean="0"/>
                        <a:t>)</a:t>
                      </a:r>
                      <a:endParaRPr lang="zh-TW" altLang="en-US" dirty="0"/>
                    </a:p>
                  </a:txBody>
                  <a:tcPr/>
                </a:tc>
                <a:tc>
                  <a:txBody>
                    <a:bodyPr/>
                    <a:lstStyle/>
                    <a:p>
                      <a:r>
                        <a:rPr lang="en-US" altLang="zh-TW" dirty="0" smtClean="0"/>
                        <a:t>V</a:t>
                      </a:r>
                      <a:endParaRPr lang="zh-TW" altLang="en-US" dirty="0"/>
                    </a:p>
                  </a:txBody>
                  <a:tcPr/>
                </a:tc>
              </a:tr>
              <a:tr h="549462">
                <a:tc>
                  <a:txBody>
                    <a:bodyPr/>
                    <a:lstStyle/>
                    <a:p>
                      <a:r>
                        <a:rPr lang="zh-TW" altLang="en-US" dirty="0" smtClean="0"/>
                        <a:t>檔案連結</a:t>
                      </a:r>
                      <a:endParaRPr lang="zh-TW" altLang="en-US" dirty="0"/>
                    </a:p>
                  </a:txBody>
                  <a:tcPr/>
                </a:tc>
                <a:tc>
                  <a:txBody>
                    <a:bodyPr/>
                    <a:lstStyle/>
                    <a:p>
                      <a:r>
                        <a:rPr lang="en-US" altLang="zh-TW" dirty="0" smtClean="0"/>
                        <a:t>V</a:t>
                      </a:r>
                      <a:endParaRPr lang="zh-TW" altLang="en-US" dirty="0"/>
                    </a:p>
                  </a:txBody>
                  <a:tcPr/>
                </a:tc>
                <a:tc>
                  <a:txBody>
                    <a:bodyPr/>
                    <a:lstStyle/>
                    <a:p>
                      <a:r>
                        <a:rPr lang="en-US" altLang="zh-TW" dirty="0" smtClean="0"/>
                        <a:t>X</a:t>
                      </a:r>
                      <a:endParaRPr lang="zh-TW" altLang="en-US" dirty="0"/>
                    </a:p>
                  </a:txBody>
                  <a:tcPr/>
                </a:tc>
                <a:tc>
                  <a:txBody>
                    <a:bodyPr/>
                    <a:lstStyle/>
                    <a:p>
                      <a:r>
                        <a:rPr lang="en-US" altLang="zh-TW" dirty="0" smtClean="0"/>
                        <a:t>X</a:t>
                      </a:r>
                      <a:endParaRPr lang="zh-TW" altLang="en-US" dirty="0"/>
                    </a:p>
                  </a:txBody>
                  <a:tcPr/>
                </a:tc>
                <a:tc>
                  <a:txBody>
                    <a:bodyPr/>
                    <a:lstStyle/>
                    <a:p>
                      <a:r>
                        <a:rPr lang="en-US" altLang="zh-TW" dirty="0" smtClean="0"/>
                        <a:t>V</a:t>
                      </a:r>
                      <a:endParaRPr lang="zh-TW" altLang="en-US" dirty="0"/>
                    </a:p>
                  </a:txBody>
                  <a:tcPr/>
                </a:tc>
              </a:tr>
              <a:tr h="549462">
                <a:tc>
                  <a:txBody>
                    <a:bodyPr/>
                    <a:lstStyle/>
                    <a:p>
                      <a:r>
                        <a:rPr lang="zh-TW" altLang="en-US" dirty="0" smtClean="0"/>
                        <a:t>手機版</a:t>
                      </a:r>
                      <a:endParaRPr lang="zh-TW" altLang="en-US" dirty="0"/>
                    </a:p>
                  </a:txBody>
                  <a:tcPr/>
                </a:tc>
                <a:tc>
                  <a:txBody>
                    <a:bodyPr/>
                    <a:lstStyle/>
                    <a:p>
                      <a:r>
                        <a:rPr lang="en-US" altLang="zh-TW" dirty="0" smtClean="0"/>
                        <a:t>V</a:t>
                      </a:r>
                      <a:endParaRPr lang="zh-TW" altLang="en-US" dirty="0"/>
                    </a:p>
                  </a:txBody>
                  <a:tcPr/>
                </a:tc>
                <a:tc>
                  <a:txBody>
                    <a:bodyPr/>
                    <a:lstStyle/>
                    <a:p>
                      <a:r>
                        <a:rPr lang="en-US" altLang="zh-TW" dirty="0" smtClean="0"/>
                        <a:t>V</a:t>
                      </a:r>
                      <a:endParaRPr lang="zh-TW" altLang="en-US" dirty="0"/>
                    </a:p>
                  </a:txBody>
                  <a:tcPr/>
                </a:tc>
                <a:tc>
                  <a:txBody>
                    <a:bodyPr/>
                    <a:lstStyle/>
                    <a:p>
                      <a:r>
                        <a:rPr lang="en-US" altLang="zh-TW" dirty="0" smtClean="0"/>
                        <a:t>X</a:t>
                      </a:r>
                      <a:endParaRPr lang="zh-TW" altLang="en-US" dirty="0"/>
                    </a:p>
                  </a:txBody>
                  <a:tcPr/>
                </a:tc>
                <a:tc>
                  <a:txBody>
                    <a:bodyPr/>
                    <a:lstStyle/>
                    <a:p>
                      <a:r>
                        <a:rPr lang="en-US" altLang="zh-TW" dirty="0" smtClean="0"/>
                        <a:t>X</a:t>
                      </a:r>
                      <a:endParaRPr lang="zh-TW" altLang="en-US" dirty="0"/>
                    </a:p>
                  </a:txBody>
                  <a:tcPr/>
                </a:tc>
              </a:tr>
              <a:tr h="549462">
                <a:tc>
                  <a:txBody>
                    <a:bodyPr/>
                    <a:lstStyle/>
                    <a:p>
                      <a:r>
                        <a:rPr lang="zh-TW" altLang="en-US" dirty="0" smtClean="0"/>
                        <a:t>是否免費</a:t>
                      </a:r>
                      <a:endParaRPr lang="zh-TW" altLang="en-US" dirty="0"/>
                    </a:p>
                  </a:txBody>
                  <a:tcPr/>
                </a:tc>
                <a:tc>
                  <a:txBody>
                    <a:bodyPr/>
                    <a:lstStyle/>
                    <a:p>
                      <a:r>
                        <a:rPr lang="zh-TW" altLang="en-US" dirty="0" smtClean="0"/>
                        <a:t>少部分功能付費</a:t>
                      </a:r>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功能付費</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線上共享須付費</a:t>
                      </a:r>
                    </a:p>
                  </a:txBody>
                  <a:tcPr/>
                </a:tc>
                <a:tc>
                  <a:txBody>
                    <a:bodyPr/>
                    <a:lstStyle/>
                    <a:p>
                      <a:r>
                        <a:rPr lang="en-US" altLang="zh-TW" dirty="0" smtClean="0"/>
                        <a:t>30</a:t>
                      </a:r>
                      <a:r>
                        <a:rPr lang="zh-TW" altLang="en-US" dirty="0" smtClean="0"/>
                        <a:t>天試用</a:t>
                      </a:r>
                      <a:endParaRPr lang="zh-TW" altLang="en-US" dirty="0"/>
                    </a:p>
                  </a:txBody>
                  <a:tcPr/>
                </a:tc>
              </a:tr>
            </a:tbl>
          </a:graphicData>
        </a:graphic>
      </p:graphicFrame>
    </p:spTree>
    <p:extLst>
      <p:ext uri="{BB962C8B-B14F-4D97-AF65-F5344CB8AC3E}">
        <p14:creationId xmlns:p14="http://schemas.microsoft.com/office/powerpoint/2010/main" val="35140049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en-US" altLang="zh-TW" sz="2400" dirty="0">
                <a:hlinkClick r:id="rId3"/>
              </a:rPr>
              <a:t>https://trello.com</a:t>
            </a:r>
            <a:r>
              <a:rPr lang="en-US" altLang="zh-TW" sz="2400" dirty="0" smtClean="0">
                <a:hlinkClick r:id="rId3"/>
              </a:rPr>
              <a:t>/</a:t>
            </a:r>
            <a:endParaRPr lang="en-US" altLang="zh-TW" sz="2400" dirty="0" smtClean="0"/>
          </a:p>
          <a:p>
            <a:r>
              <a:rPr lang="zh-TW" altLang="en-US" sz="2400" dirty="0"/>
              <a:t>請先到上方的網址進行</a:t>
            </a:r>
            <a:r>
              <a:rPr lang="zh-TW" altLang="en-US" sz="2400" dirty="0" smtClean="0"/>
              <a:t>註冊</a:t>
            </a:r>
            <a:r>
              <a:rPr lang="en-US" altLang="zh-TW" sz="2400" dirty="0" smtClean="0"/>
              <a:t>/</a:t>
            </a:r>
            <a:r>
              <a:rPr lang="zh-TW" altLang="en-US" sz="2400" dirty="0" smtClean="0"/>
              <a:t>登入</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10</a:t>
            </a:fld>
            <a:endParaRPr lang="zh-TW" alt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9496" y="2420888"/>
            <a:ext cx="7949326" cy="37723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16858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在登入後可以看你目前所擁有的所有看板，在點下</a:t>
            </a:r>
            <a:r>
              <a:rPr lang="en-US" altLang="zh-TW" sz="2400" dirty="0" smtClean="0"/>
              <a:t>”</a:t>
            </a:r>
            <a:r>
              <a:rPr lang="zh-TW" altLang="en-US" sz="2400" dirty="0" smtClean="0"/>
              <a:t>新建看板</a:t>
            </a:r>
            <a:r>
              <a:rPr lang="en-US" altLang="zh-TW" sz="2400" dirty="0" smtClean="0"/>
              <a:t>”</a:t>
            </a:r>
            <a:r>
              <a:rPr lang="zh-TW" altLang="en-US" sz="2400" dirty="0" smtClean="0"/>
              <a:t>後，輸入看板名稱，並且選擇是否公開，及新建完成。</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11</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560" y="2584375"/>
            <a:ext cx="7632848" cy="4022566"/>
          </a:xfrm>
          <a:prstGeom prst="rect">
            <a:avLst/>
          </a:prstGeom>
        </p:spPr>
      </p:pic>
    </p:spTree>
    <p:extLst>
      <p:ext uri="{BB962C8B-B14F-4D97-AF65-F5344CB8AC3E}">
        <p14:creationId xmlns:p14="http://schemas.microsoft.com/office/powerpoint/2010/main" val="15542067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54785"/>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進入看板後，你可以選擇新建列表</a:t>
            </a:r>
            <a:r>
              <a:rPr lang="en-US" altLang="zh-TW" sz="2400" dirty="0" smtClean="0"/>
              <a:t>(</a:t>
            </a:r>
            <a:r>
              <a:rPr lang="zh-TW" altLang="en-US" sz="2400" dirty="0" smtClean="0"/>
              <a:t>大項目</a:t>
            </a:r>
            <a:r>
              <a:rPr lang="en-US" altLang="zh-TW" sz="2400" dirty="0" smtClean="0"/>
              <a:t>)</a:t>
            </a:r>
            <a:r>
              <a:rPr lang="zh-TW" altLang="en-US" sz="2400" dirty="0" smtClean="0"/>
              <a:t>或是新增卡片</a:t>
            </a:r>
            <a:r>
              <a:rPr lang="en-US" altLang="zh-TW" sz="2400" dirty="0" smtClean="0"/>
              <a:t>(</a:t>
            </a:r>
            <a:r>
              <a:rPr lang="zh-TW" altLang="en-US" sz="2400" dirty="0" smtClean="0"/>
              <a:t>子項目</a:t>
            </a:r>
            <a:r>
              <a:rPr lang="en-US" altLang="zh-TW" sz="2400" dirty="0" smtClean="0"/>
              <a:t>)</a:t>
            </a:r>
            <a:r>
              <a:rPr lang="zh-TW" altLang="en-US" sz="2400" dirty="0" smtClean="0"/>
              <a:t>。</a:t>
            </a:r>
            <a:endParaRPr lang="en-US" altLang="zh-TW" sz="2400" dirty="0" smtClean="0"/>
          </a:p>
          <a:p>
            <a:r>
              <a:rPr lang="zh-TW" altLang="en-US" sz="2400" dirty="0"/>
              <a:t>右方的活動欄中會記錄看板中的所有的操作，並且會顯示是何人</a:t>
            </a:r>
            <a:r>
              <a:rPr lang="zh-TW" altLang="en-US" sz="2400" dirty="0" smtClean="0"/>
              <a:t>操作。</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12</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1235" y="2420888"/>
            <a:ext cx="7776864" cy="4194965"/>
          </a:xfrm>
          <a:prstGeom prst="rect">
            <a:avLst/>
          </a:prstGeom>
        </p:spPr>
      </p:pic>
    </p:spTree>
    <p:extLst>
      <p:ext uri="{BB962C8B-B14F-4D97-AF65-F5344CB8AC3E}">
        <p14:creationId xmlns:p14="http://schemas.microsoft.com/office/powerpoint/2010/main" val="8390716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打開卡片後，可以在描述對該項目進行更加仔細地敘述。</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13</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3472" y="1988840"/>
            <a:ext cx="8326832" cy="4489301"/>
          </a:xfrm>
          <a:prstGeom prst="rect">
            <a:avLst/>
          </a:prstGeom>
        </p:spPr>
      </p:pic>
    </p:spTree>
    <p:extLst>
      <p:ext uri="{BB962C8B-B14F-4D97-AF65-F5344CB8AC3E}">
        <p14:creationId xmlns:p14="http://schemas.microsoft.com/office/powerpoint/2010/main" val="42168931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a:t>打開 </a:t>
            </a:r>
            <a:r>
              <a:rPr lang="en-US" altLang="zh-TW" sz="2400" dirty="0"/>
              <a:t>Trello </a:t>
            </a:r>
            <a:r>
              <a:rPr lang="zh-TW" altLang="en-US" sz="2400" dirty="0"/>
              <a:t>卡片後，可以看到右方</a:t>
            </a:r>
            <a:r>
              <a:rPr lang="zh-TW" altLang="en-US" sz="2400" dirty="0" smtClean="0"/>
              <a:t>的</a:t>
            </a:r>
            <a:r>
              <a:rPr lang="en-US" altLang="zh-TW" sz="2400" dirty="0" smtClean="0"/>
              <a:t>”</a:t>
            </a:r>
            <a:r>
              <a:rPr lang="zh-TW" altLang="en-US" sz="2400" dirty="0" smtClean="0"/>
              <a:t>新增</a:t>
            </a:r>
            <a:r>
              <a:rPr lang="en-US" altLang="zh-TW" sz="2400" dirty="0" smtClean="0"/>
              <a:t>”</a:t>
            </a:r>
            <a:r>
              <a:rPr lang="zh-TW" altLang="en-US" sz="2400" dirty="0" smtClean="0"/>
              <a:t>清單</a:t>
            </a:r>
            <a:r>
              <a:rPr lang="zh-TW" altLang="en-US" sz="2400" dirty="0"/>
              <a:t>有幾個我們會常常用到的功能</a:t>
            </a:r>
            <a:r>
              <a:rPr lang="zh-TW" altLang="en-US" sz="2400" dirty="0" smtClean="0"/>
              <a:t>：</a:t>
            </a:r>
            <a:endParaRPr lang="en-US" altLang="zh-TW" sz="2400" dirty="0" smtClean="0"/>
          </a:p>
          <a:p>
            <a:pPr lvl="1"/>
            <a:r>
              <a:rPr lang="zh-TW" altLang="en-US" dirty="0" smtClean="0"/>
              <a:t>成員</a:t>
            </a:r>
            <a:endParaRPr lang="en-US" altLang="zh-TW" dirty="0" smtClean="0"/>
          </a:p>
          <a:p>
            <a:pPr lvl="1"/>
            <a:r>
              <a:rPr lang="zh-TW" altLang="en-US" dirty="0" smtClean="0"/>
              <a:t>顏色標籤</a:t>
            </a:r>
            <a:endParaRPr lang="en-US" altLang="zh-TW" dirty="0" smtClean="0"/>
          </a:p>
          <a:p>
            <a:pPr lvl="1"/>
            <a:r>
              <a:rPr lang="zh-TW" altLang="en-US" dirty="0" smtClean="0"/>
              <a:t>待辦清單</a:t>
            </a:r>
            <a:endParaRPr lang="en-US" altLang="zh-TW" dirty="0" smtClean="0"/>
          </a:p>
          <a:p>
            <a:pPr lvl="1"/>
            <a:r>
              <a:rPr lang="zh-TW" altLang="en-US" dirty="0" smtClean="0"/>
              <a:t>到期日</a:t>
            </a:r>
            <a:endParaRPr lang="en-US" altLang="zh-TW" dirty="0" smtClean="0"/>
          </a:p>
          <a:p>
            <a:pPr lvl="1"/>
            <a:r>
              <a:rPr lang="zh-TW" altLang="en-US" dirty="0" smtClean="0"/>
              <a:t>附件</a:t>
            </a:r>
            <a:endParaRPr lang="en-US" altLang="zh-TW"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14</a:t>
            </a:fld>
            <a:endParaRPr lang="zh-TW" altLang="en-US"/>
          </a:p>
        </p:txBody>
      </p:sp>
      <p:pic>
        <p:nvPicPr>
          <p:cNvPr id="7" name="圖片 6"/>
          <p:cNvPicPr>
            <a:picLocks noChangeAspect="1"/>
          </p:cNvPicPr>
          <p:nvPr/>
        </p:nvPicPr>
        <p:blipFill rotWithShape="1">
          <a:blip r:embed="rId3">
            <a:extLst>
              <a:ext uri="{28A0092B-C50C-407E-A947-70E740481C1C}">
                <a14:useLocalDpi xmlns:a14="http://schemas.microsoft.com/office/drawing/2010/main" val="0"/>
              </a:ext>
            </a:extLst>
          </a:blip>
          <a:srcRect l="28174" t="2831" r="27277"/>
          <a:stretch/>
        </p:blipFill>
        <p:spPr>
          <a:xfrm>
            <a:off x="4151784" y="1929367"/>
            <a:ext cx="5112568" cy="4898917"/>
          </a:xfrm>
          <a:prstGeom prst="rect">
            <a:avLst/>
          </a:prstGeom>
        </p:spPr>
      </p:pic>
    </p:spTree>
    <p:extLst>
      <p:ext uri="{BB962C8B-B14F-4D97-AF65-F5344CB8AC3E}">
        <p14:creationId xmlns:p14="http://schemas.microsoft.com/office/powerpoint/2010/main" val="1157271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dirty="0" smtClean="0"/>
              <a:t>成員功能：我們可以指定在看板的共享者中，有誰需負責該項目，並且主頁以及卡片中顯示。</a:t>
            </a:r>
            <a:endParaRPr lang="en-US" altLang="zh-TW"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15</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7528" y="2144524"/>
            <a:ext cx="8352928" cy="4515095"/>
          </a:xfrm>
          <a:prstGeom prst="rect">
            <a:avLst/>
          </a:prstGeom>
        </p:spPr>
      </p:pic>
      <p:sp>
        <p:nvSpPr>
          <p:cNvPr id="6" name="矩形 5"/>
          <p:cNvSpPr/>
          <p:nvPr/>
        </p:nvSpPr>
        <p:spPr>
          <a:xfrm>
            <a:off x="3865265" y="2871986"/>
            <a:ext cx="504056" cy="43204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rgbClr val="FF0000"/>
                </a:solidFill>
              </a:ln>
              <a:noFill/>
            </a:endParaRPr>
          </a:p>
        </p:txBody>
      </p:sp>
      <p:sp>
        <p:nvSpPr>
          <p:cNvPr id="8" name="矩形 7"/>
          <p:cNvSpPr/>
          <p:nvPr/>
        </p:nvSpPr>
        <p:spPr>
          <a:xfrm>
            <a:off x="3143672" y="3140968"/>
            <a:ext cx="504056" cy="432048"/>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n>
                <a:solidFill>
                  <a:srgbClr val="FF0000"/>
                </a:solidFill>
              </a:ln>
              <a:noFill/>
            </a:endParaRPr>
          </a:p>
        </p:txBody>
      </p:sp>
    </p:spTree>
    <p:extLst>
      <p:ext uri="{BB962C8B-B14F-4D97-AF65-F5344CB8AC3E}">
        <p14:creationId xmlns:p14="http://schemas.microsoft.com/office/powerpoint/2010/main" val="9618595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a:t>標籤：在某張卡片加入指定的顏色標籤，我們還可以自訂每種顏色標籤的名稱，這樣便利貼牆上就會有特別的顏色來方便辨識出這張卡片。</a:t>
            </a:r>
            <a:endParaRPr lang="en-US" altLang="zh-TW"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16</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7528" y="2283743"/>
            <a:ext cx="8303341" cy="4545310"/>
          </a:xfrm>
          <a:prstGeom prst="rect">
            <a:avLst/>
          </a:prstGeom>
        </p:spPr>
      </p:pic>
    </p:spTree>
    <p:extLst>
      <p:ext uri="{BB962C8B-B14F-4D97-AF65-F5344CB8AC3E}">
        <p14:creationId xmlns:p14="http://schemas.microsoft.com/office/powerpoint/2010/main" val="24682261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a:t>待辦</a:t>
            </a:r>
            <a:r>
              <a:rPr lang="zh-TW" altLang="en-US" sz="2400" dirty="0" smtClean="0"/>
              <a:t>清單：若該子項目下還有細分，那麼可以新增待辦清單，並且在勾選後會顯示該項目的完成率。</a:t>
            </a:r>
            <a:endParaRPr lang="en-US" altLang="zh-TW" sz="2400" dirty="0" smtClean="0"/>
          </a:p>
          <a:p>
            <a:r>
              <a:rPr lang="zh-TW" altLang="en-US" sz="2400" dirty="0"/>
              <a:t>一個卡片</a:t>
            </a:r>
            <a:r>
              <a:rPr lang="en-US" altLang="zh-TW" sz="2400" dirty="0"/>
              <a:t>(</a:t>
            </a:r>
            <a:r>
              <a:rPr lang="zh-TW" altLang="en-US" sz="2400" dirty="0"/>
              <a:t>子項目</a:t>
            </a:r>
            <a:r>
              <a:rPr lang="en-US" altLang="zh-TW" sz="2400" dirty="0"/>
              <a:t>)</a:t>
            </a:r>
            <a:r>
              <a:rPr lang="zh-TW" altLang="en-US" sz="2400" dirty="0"/>
              <a:t>可以有複數個待辦</a:t>
            </a:r>
            <a:r>
              <a:rPr lang="zh-TW" altLang="en-US" sz="2400" dirty="0" smtClean="0"/>
              <a:t>清單。</a:t>
            </a:r>
            <a:endParaRPr lang="en-US" altLang="zh-TW"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17</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1544" y="2708920"/>
            <a:ext cx="7366263" cy="4005064"/>
          </a:xfrm>
          <a:prstGeom prst="rect">
            <a:avLst/>
          </a:prstGeom>
        </p:spPr>
      </p:pic>
    </p:spTree>
    <p:extLst>
      <p:ext uri="{BB962C8B-B14F-4D97-AF65-F5344CB8AC3E}">
        <p14:creationId xmlns:p14="http://schemas.microsoft.com/office/powerpoint/2010/main" val="34526630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a:t>到期</a:t>
            </a:r>
            <a:r>
              <a:rPr lang="zh-TW" altLang="en-US" sz="2400" dirty="0" smtClean="0"/>
              <a:t>日：你可以為該卡片</a:t>
            </a:r>
            <a:r>
              <a:rPr lang="en-US" altLang="zh-TW" sz="2400" dirty="0" smtClean="0"/>
              <a:t>(</a:t>
            </a:r>
            <a:r>
              <a:rPr lang="zh-TW" altLang="en-US" sz="2400" dirty="0" smtClean="0"/>
              <a:t>子項目</a:t>
            </a:r>
            <a:r>
              <a:rPr lang="en-US" altLang="zh-TW" sz="2400" dirty="0" smtClean="0"/>
              <a:t>)</a:t>
            </a:r>
            <a:r>
              <a:rPr lang="zh-TW" altLang="en-US" sz="2400" dirty="0" smtClean="0"/>
              <a:t>設立期限，若以到期且尚未勾選完成，則會在卡片頁面和主頁顯示紅色。</a:t>
            </a:r>
            <a:endParaRPr lang="en-US" altLang="zh-TW"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18</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8081" y="2276872"/>
            <a:ext cx="8186348" cy="4465831"/>
          </a:xfrm>
          <a:prstGeom prst="rect">
            <a:avLst/>
          </a:prstGeom>
        </p:spPr>
      </p:pic>
    </p:spTree>
    <p:extLst>
      <p:ext uri="{BB962C8B-B14F-4D97-AF65-F5344CB8AC3E}">
        <p14:creationId xmlns:p14="http://schemas.microsoft.com/office/powerpoint/2010/main" val="17466985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附檔：如果</a:t>
            </a:r>
            <a:r>
              <a:rPr lang="zh-TW" altLang="en-US" sz="2400" dirty="0"/>
              <a:t>是電腦上傳新檔案，每張卡片限制只能插入 </a:t>
            </a:r>
            <a:r>
              <a:rPr lang="en-US" altLang="zh-TW" sz="2400" dirty="0"/>
              <a:t>10 MB </a:t>
            </a:r>
            <a:r>
              <a:rPr lang="zh-TW" altLang="en-US" sz="2400" dirty="0"/>
              <a:t>以內的檔案，但是我們也可以選擇雲端連結 </a:t>
            </a:r>
            <a:r>
              <a:rPr lang="en-US" altLang="zh-TW" sz="2400" dirty="0"/>
              <a:t>Google Drive</a:t>
            </a:r>
            <a:r>
              <a:rPr lang="zh-TW" altLang="en-US" sz="2400" dirty="0"/>
              <a:t>、 </a:t>
            </a:r>
            <a:r>
              <a:rPr lang="en-US" altLang="zh-TW" sz="2400" dirty="0"/>
              <a:t>Dropbox </a:t>
            </a:r>
            <a:r>
              <a:rPr lang="zh-TW" altLang="en-US" sz="2400" dirty="0"/>
              <a:t>的雲端硬碟檔案，這時候就沒有檔案大小限制。</a:t>
            </a:r>
            <a:endParaRPr lang="en-US" altLang="zh-TW"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19</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5560" y="2664717"/>
            <a:ext cx="7560840" cy="4081857"/>
          </a:xfrm>
          <a:prstGeom prst="rect">
            <a:avLst/>
          </a:prstGeom>
        </p:spPr>
      </p:pic>
    </p:spTree>
    <p:extLst>
      <p:ext uri="{BB962C8B-B14F-4D97-AF65-F5344CB8AC3E}">
        <p14:creationId xmlns:p14="http://schemas.microsoft.com/office/powerpoint/2010/main" val="39538661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每張卡片下方可以留言進行討論，並且在每張卡片的活動欄內顯示某人留下了評論或是在這張卡片進行了何種操作。</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20</a:t>
            </a:fld>
            <a:endParaRPr lang="zh-TW" altLang="en-US"/>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7568" y="2348880"/>
            <a:ext cx="7750938" cy="4221088"/>
          </a:xfrm>
          <a:prstGeom prst="rect">
            <a:avLst/>
          </a:prstGeom>
        </p:spPr>
      </p:pic>
    </p:spTree>
    <p:extLst>
      <p:ext uri="{BB962C8B-B14F-4D97-AF65-F5344CB8AC3E}">
        <p14:creationId xmlns:p14="http://schemas.microsoft.com/office/powerpoint/2010/main" val="2475253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smtClean="0"/>
              <a:t>在點選主畫面右方的強化功能裡的行事曆後，主畫面會多一個</a:t>
            </a:r>
            <a:r>
              <a:rPr lang="en-US" altLang="zh-TW" sz="2400" dirty="0" smtClean="0"/>
              <a:t>“</a:t>
            </a:r>
            <a:r>
              <a:rPr lang="zh-TW" altLang="en-US" sz="2400" dirty="0" smtClean="0"/>
              <a:t>行事曆</a:t>
            </a:r>
            <a:r>
              <a:rPr lang="en-US" altLang="zh-TW" sz="2400" dirty="0" smtClean="0"/>
              <a:t>”</a:t>
            </a:r>
            <a:r>
              <a:rPr lang="zh-TW" altLang="en-US" sz="2400" dirty="0" smtClean="0"/>
              <a:t>按鈕，該功能會打你剛剛所設定項目的到期日顯示在行事曆上。</a:t>
            </a:r>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21</a:t>
            </a:fld>
            <a:endParaRPr lang="zh-TW" altLang="en-US"/>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9614" y="2321446"/>
            <a:ext cx="8073495" cy="4373635"/>
          </a:xfrm>
          <a:prstGeom prst="rect">
            <a:avLst/>
          </a:prstGeom>
        </p:spPr>
      </p:pic>
    </p:spTree>
    <p:extLst>
      <p:ext uri="{BB962C8B-B14F-4D97-AF65-F5344CB8AC3E}">
        <p14:creationId xmlns:p14="http://schemas.microsoft.com/office/powerpoint/2010/main" val="28725912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r>
              <a:rPr lang="en-US" altLang="zh-TW" dirty="0" smtClean="0"/>
              <a:t>Trello</a:t>
            </a:r>
            <a:r>
              <a:rPr lang="zh-TW" altLang="en-US" dirty="0" smtClean="0"/>
              <a:t>使用說明</a:t>
            </a:r>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r>
              <a:rPr lang="zh-TW" altLang="en-US" sz="2400" dirty="0"/>
              <a:t>身為一個資料整理、專案管理工具， </a:t>
            </a:r>
            <a:r>
              <a:rPr lang="en-US" altLang="zh-TW" sz="2400" dirty="0"/>
              <a:t>Trello </a:t>
            </a:r>
            <a:r>
              <a:rPr lang="zh-TW" altLang="en-US" sz="2400" dirty="0"/>
              <a:t>同時可以在任何電腦的網頁端，以及 </a:t>
            </a:r>
            <a:r>
              <a:rPr lang="en-US" altLang="zh-TW" sz="2400" dirty="0"/>
              <a:t>Android</a:t>
            </a:r>
            <a:r>
              <a:rPr lang="zh-TW" altLang="en-US" sz="2400" dirty="0"/>
              <a:t>、 </a:t>
            </a:r>
            <a:r>
              <a:rPr lang="en-US" altLang="zh-TW" sz="2400" dirty="0"/>
              <a:t>iPhone</a:t>
            </a:r>
            <a:r>
              <a:rPr lang="zh-TW" altLang="en-US" sz="2400" dirty="0"/>
              <a:t>、 </a:t>
            </a:r>
            <a:r>
              <a:rPr lang="en-US" altLang="zh-TW" sz="2400" dirty="0"/>
              <a:t>iPad </a:t>
            </a:r>
            <a:r>
              <a:rPr lang="zh-TW" altLang="en-US" sz="2400" dirty="0"/>
              <a:t>上使用，並且隨時新增的資料都會自動同步</a:t>
            </a:r>
            <a:r>
              <a:rPr lang="zh-TW" altLang="en-US" sz="2400" dirty="0" smtClean="0"/>
              <a:t>。</a:t>
            </a:r>
            <a:endParaRPr lang="en-US" altLang="zh-TW" sz="2400" dirty="0" smtClean="0"/>
          </a:p>
          <a:p>
            <a:r>
              <a:rPr lang="en-US" altLang="zh-TW" sz="2400" dirty="0">
                <a:hlinkClick r:id="rId3"/>
              </a:rPr>
              <a:t>https://</a:t>
            </a:r>
            <a:r>
              <a:rPr lang="en-US" altLang="zh-TW" sz="2400" dirty="0" smtClean="0">
                <a:hlinkClick r:id="rId3"/>
              </a:rPr>
              <a:t>play.google.com/store/apps/details?id=com.trello</a:t>
            </a:r>
            <a:endParaRPr lang="en-US" altLang="zh-TW" sz="2400" dirty="0" smtClean="0"/>
          </a:p>
          <a:p>
            <a:r>
              <a:rPr lang="en-US" altLang="zh-TW" sz="2400" dirty="0">
                <a:hlinkClick r:id="rId4"/>
              </a:rPr>
              <a:t>https://</a:t>
            </a:r>
            <a:r>
              <a:rPr lang="en-US" altLang="zh-TW" sz="2400" dirty="0" smtClean="0">
                <a:hlinkClick r:id="rId4"/>
              </a:rPr>
              <a:t>itunes.apple.com/app/trello-organize-anything/id461504587</a:t>
            </a:r>
            <a:endParaRPr lang="en-US" altLang="zh-TW" sz="2400" dirty="0" smtClean="0"/>
          </a:p>
          <a:p>
            <a:endParaRPr lang="en-US" altLang="zh-TW" sz="2400" dirty="0" smtClean="0"/>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22</a:t>
            </a:fld>
            <a:endParaRPr lang="zh-TW" altLang="en-US"/>
          </a:p>
        </p:txBody>
      </p:sp>
      <p:pic>
        <p:nvPicPr>
          <p:cNvPr id="8" name="圖片 7"/>
          <p:cNvPicPr>
            <a:picLocks noChangeAspect="1"/>
          </p:cNvPicPr>
          <p:nvPr/>
        </p:nvPicPr>
        <p:blipFill rotWithShape="1">
          <a:blip r:embed="rId5">
            <a:extLst>
              <a:ext uri="{28A0092B-C50C-407E-A947-70E740481C1C}">
                <a14:useLocalDpi xmlns:a14="http://schemas.microsoft.com/office/drawing/2010/main" val="0"/>
              </a:ext>
            </a:extLst>
          </a:blip>
          <a:srcRect b="59522"/>
          <a:stretch/>
        </p:blipFill>
        <p:spPr>
          <a:xfrm>
            <a:off x="407368" y="4143375"/>
            <a:ext cx="5274883" cy="1722487"/>
          </a:xfrm>
          <a:prstGeom prst="rect">
            <a:avLst/>
          </a:prstGeom>
        </p:spPr>
      </p:pic>
      <p:pic>
        <p:nvPicPr>
          <p:cNvPr id="9" name="圖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68008" y="3645023"/>
            <a:ext cx="4464496" cy="2498301"/>
          </a:xfrm>
          <a:prstGeom prst="rect">
            <a:avLst/>
          </a:prstGeom>
        </p:spPr>
      </p:pic>
    </p:spTree>
    <p:extLst>
      <p:ext uri="{BB962C8B-B14F-4D97-AF65-F5344CB8AC3E}">
        <p14:creationId xmlns:p14="http://schemas.microsoft.com/office/powerpoint/2010/main" val="17627275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23392" y="260648"/>
            <a:ext cx="10972800" cy="725943"/>
          </a:xfrm>
        </p:spPr>
        <p:txBody>
          <a:bodyPr>
            <a:normAutofit fontScale="90000"/>
          </a:bodyPr>
          <a:lstStyle/>
          <a:p>
            <a:pPr fontAlgn="base"/>
            <a:endParaRPr lang="en-US" altLang="zh-TW" dirty="0"/>
          </a:p>
        </p:txBody>
      </p:sp>
      <p:sp>
        <p:nvSpPr>
          <p:cNvPr id="4" name="內容版面配置區 3"/>
          <p:cNvSpPr>
            <a:spLocks noGrp="1"/>
          </p:cNvSpPr>
          <p:nvPr>
            <p:ph idx="1"/>
          </p:nvPr>
        </p:nvSpPr>
        <p:spPr>
          <a:xfrm>
            <a:off x="335360" y="1412777"/>
            <a:ext cx="10657184" cy="4713388"/>
          </a:xfrm>
        </p:spPr>
        <p:txBody>
          <a:bodyPr>
            <a:normAutofit/>
          </a:bodyPr>
          <a:lstStyle/>
          <a:p>
            <a:endParaRPr lang="en-US" altLang="zh-TW" sz="2400" dirty="0" smtClean="0"/>
          </a:p>
          <a:p>
            <a:endParaRPr lang="en-US" altLang="zh-TW" sz="2400" dirty="0"/>
          </a:p>
          <a:p>
            <a:endParaRPr lang="en-US" altLang="zh-TW" sz="2400" dirty="0" smtClean="0"/>
          </a:p>
          <a:p>
            <a:pPr marL="114300" indent="0">
              <a:buNone/>
            </a:pPr>
            <a:endParaRPr lang="en-US" altLang="zh-TW" sz="2400" dirty="0" smtClean="0"/>
          </a:p>
          <a:p>
            <a:pPr algn="ctr"/>
            <a:r>
              <a:rPr lang="en-US" altLang="zh-TW" sz="4400" dirty="0" smtClean="0"/>
              <a:t>Thanks for your listening.</a:t>
            </a:r>
          </a:p>
        </p:txBody>
      </p:sp>
      <p:sp>
        <p:nvSpPr>
          <p:cNvPr id="5" name="投影片編號版面配置區 4"/>
          <p:cNvSpPr>
            <a:spLocks noGrp="1"/>
          </p:cNvSpPr>
          <p:nvPr>
            <p:ph type="sldNum" sz="quarter" idx="12"/>
          </p:nvPr>
        </p:nvSpPr>
        <p:spPr/>
        <p:txBody>
          <a:bodyPr/>
          <a:lstStyle/>
          <a:p>
            <a:fld id="{83B940EE-8762-4AB3-B986-BE3D03098BBE}" type="slidenum">
              <a:rPr lang="zh-TW" altLang="en-US" smtClean="0"/>
              <a:t>23</a:t>
            </a:fld>
            <a:endParaRPr lang="zh-TW" altLang="en-US"/>
          </a:p>
        </p:txBody>
      </p:sp>
    </p:spTree>
    <p:extLst>
      <p:ext uri="{BB962C8B-B14F-4D97-AF65-F5344CB8AC3E}">
        <p14:creationId xmlns:p14="http://schemas.microsoft.com/office/powerpoint/2010/main" val="92246051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相鄰">
  <a:themeElements>
    <a:clrScheme name="相鄰">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相鄰">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18679</TotalTime>
  <Words>1562</Words>
  <Application>Microsoft Office PowerPoint</Application>
  <PresentationFormat>自訂</PresentationFormat>
  <Paragraphs>167</Paragraphs>
  <Slides>23</Slides>
  <Notes>20</Notes>
  <HiddenSlides>0</HiddenSlides>
  <MMClips>0</MMClips>
  <ScaleCrop>false</ScaleCrop>
  <HeadingPairs>
    <vt:vector size="4" baseType="variant">
      <vt:variant>
        <vt:lpstr>佈景主題</vt:lpstr>
      </vt:variant>
      <vt:variant>
        <vt:i4>1</vt:i4>
      </vt:variant>
      <vt:variant>
        <vt:lpstr>投影片標題</vt:lpstr>
      </vt:variant>
      <vt:variant>
        <vt:i4>23</vt:i4>
      </vt:variant>
    </vt:vector>
  </HeadingPairs>
  <TitlesOfParts>
    <vt:vector size="24" baseType="lpstr">
      <vt:lpstr>相鄰</vt:lpstr>
      <vt:lpstr>專案管理工具介紹</vt:lpstr>
      <vt:lpstr>專案管理</vt:lpstr>
      <vt:lpstr>專案管理</vt:lpstr>
      <vt:lpstr>專案管理工具(1)  Trello</vt:lpstr>
      <vt:lpstr>專案管理工具(1)  Trello</vt:lpstr>
      <vt:lpstr>專案管理工具(2) Todoist</vt:lpstr>
      <vt:lpstr>專案管理工具(3) Tom’splanner</vt:lpstr>
      <vt:lpstr>專案管理工具(4) Gantter </vt:lpstr>
      <vt:lpstr>專案管理工具比較</vt:lpstr>
      <vt:lpstr>Trello使用說明</vt:lpstr>
      <vt:lpstr>Trello使用說明</vt:lpstr>
      <vt:lpstr>Trello使用說明</vt:lpstr>
      <vt:lpstr>Trello使用說明</vt:lpstr>
      <vt:lpstr>Trello使用說明</vt:lpstr>
      <vt:lpstr>Trello使用說明</vt:lpstr>
      <vt:lpstr>Trello使用說明</vt:lpstr>
      <vt:lpstr>Trello使用說明</vt:lpstr>
      <vt:lpstr>Trello使用說明</vt:lpstr>
      <vt:lpstr>Trello使用說明</vt:lpstr>
      <vt:lpstr>Trello使用說明</vt:lpstr>
      <vt:lpstr>Trello使用說明</vt:lpstr>
      <vt:lpstr>Trello使用說明</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Ternary Cache: Three-valued MLC STT-RAM Caches</dc:title>
  <dc:creator>sleep</dc:creator>
  <cp:lastModifiedBy>sleep</cp:lastModifiedBy>
  <cp:revision>226</cp:revision>
  <cp:lastPrinted>2017-12-19T09:52:34Z</cp:lastPrinted>
  <dcterms:created xsi:type="dcterms:W3CDTF">2017-09-14T07:21:57Z</dcterms:created>
  <dcterms:modified xsi:type="dcterms:W3CDTF">2018-04-16T19:56:44Z</dcterms:modified>
</cp:coreProperties>
</file>