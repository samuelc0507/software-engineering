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0"/>
  </p:notesMasterIdLst>
  <p:sldIdLst>
    <p:sldId id="256" r:id="rId2"/>
    <p:sldId id="257" r:id="rId3"/>
    <p:sldId id="261" r:id="rId4"/>
    <p:sldId id="262" r:id="rId5"/>
    <p:sldId id="263" r:id="rId6"/>
    <p:sldId id="260" r:id="rId7"/>
    <p:sldId id="265" r:id="rId8"/>
    <p:sldId id="258" r:id="rId9"/>
    <p:sldId id="269" r:id="rId10"/>
    <p:sldId id="264" r:id="rId11"/>
    <p:sldId id="267" r:id="rId12"/>
    <p:sldId id="268" r:id="rId13"/>
    <p:sldId id="270" r:id="rId14"/>
    <p:sldId id="266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D062B-920F-4785-9AF2-0F108657AB60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C425A-F2F3-4505-882B-F72E4890D4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368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當程式碼開發到一個程度時，就要適時的將程式碼合併調整，否則當程式差異太多就會比較難以處理，要執行此動作，則需要先請</a:t>
            </a:r>
            <a:r>
              <a:rPr lang="zh-TW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分支的擁有者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在專案網頁中，提出「</a:t>
            </a:r>
            <a:r>
              <a:rPr lang="en-US" altLang="zh-TW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 &amp; pull request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」的請求，如下圖。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C425A-F2F3-4505-882B-F72E4890D4E0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970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也可以將其下載回去測試後決定是否要 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，如果 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，就按下「</a:t>
            </a:r>
            <a:r>
              <a:rPr lang="en-US" altLang="zh-TW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 pull request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</a:t>
            </a:r>
            <a:r>
              <a:rPr lang="en-US" altLang="zh-TW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Confirm merge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」。</a:t>
            </a:r>
          </a:p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  <a:p>
            <a:r>
              <a:rPr lang="en-US" altLang="zh-TW" dirty="0" err="1" smtClean="0"/>
              <a:t>Github</a:t>
            </a:r>
            <a:r>
              <a:rPr lang="zh-TW" altLang="en-US" dirty="0" smtClean="0"/>
              <a:t>功能更多更完善</a:t>
            </a:r>
            <a:endParaRPr lang="en-US" altLang="zh-TW" dirty="0" smtClean="0"/>
          </a:p>
          <a:p>
            <a:r>
              <a:rPr lang="en-US" altLang="zh-TW" dirty="0" err="1" smtClean="0"/>
              <a:t>codepile</a:t>
            </a:r>
            <a:r>
              <a:rPr lang="zh-TW" altLang="en-US" dirty="0" smtClean="0"/>
              <a:t>適合分組作業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C425A-F2F3-4505-882B-F72E4890D4E0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8996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428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46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158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8685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24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6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016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126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828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91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2338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929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9804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621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53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366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0A243-BD10-44A8-A8D2-DFAAE86A2E3B}" type="datetimeFigureOut">
              <a:rPr lang="zh-TW" altLang="en-US" smtClean="0"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2A44631-44EE-4A1C-A900-2C0310A272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634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程式碼共享管理</a:t>
            </a:r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M0629017	</a:t>
            </a:r>
            <a:r>
              <a:rPr lang="zh-TW" altLang="en-US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吳承憲</a:t>
            </a:r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426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CodePile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85946"/>
          </a:xfrm>
        </p:spPr>
        <p:txBody>
          <a:bodyPr>
            <a:normAutofit/>
          </a:bodyPr>
          <a:lstStyle/>
          <a:p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線</a:t>
            </a:r>
            <a:r>
              <a:rPr lang="zh-TW" altLang="en-US" sz="20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上快速分享</a:t>
            </a:r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程式碼</a:t>
            </a:r>
            <a:endParaRPr lang="en-US" altLang="zh-TW" sz="2000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支援</a:t>
            </a:r>
            <a:r>
              <a:rPr lang="zh-TW" altLang="en-US" sz="20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多人協作即時</a:t>
            </a:r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編輯</a:t>
            </a:r>
            <a:endParaRPr lang="en-US" altLang="zh-TW" sz="2000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0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支援超過 </a:t>
            </a:r>
            <a:r>
              <a:rPr lang="en-US" altLang="zh-TW" sz="20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130 </a:t>
            </a:r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種程式語言</a:t>
            </a:r>
            <a:endParaRPr lang="en-US" altLang="zh-TW" sz="2000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0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內建聊天</a:t>
            </a:r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視窗</a:t>
            </a:r>
            <a:endParaRPr lang="en-US" altLang="zh-TW" sz="2000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還原點功能</a:t>
            </a:r>
            <a:endParaRPr lang="zh-TW" altLang="en-US" sz="2000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278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2592925" y="1905000"/>
            <a:ext cx="7987934" cy="4741148"/>
            <a:chOff x="3054801" y="2022229"/>
            <a:chExt cx="7987934" cy="4741148"/>
          </a:xfrm>
        </p:grpSpPr>
        <p:grpSp>
          <p:nvGrpSpPr>
            <p:cNvPr id="21" name="群組 20"/>
            <p:cNvGrpSpPr/>
            <p:nvPr/>
          </p:nvGrpSpPr>
          <p:grpSpPr>
            <a:xfrm>
              <a:off x="3054801" y="2022229"/>
              <a:ext cx="7987934" cy="4741148"/>
              <a:chOff x="2592925" y="1905000"/>
              <a:chExt cx="7987934" cy="4741148"/>
            </a:xfrm>
          </p:grpSpPr>
          <p:pic>
            <p:nvPicPr>
              <p:cNvPr id="7" name="圖片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92925" y="1905000"/>
                <a:ext cx="7987934" cy="4741148"/>
              </a:xfrm>
              <a:prstGeom prst="rect">
                <a:avLst/>
              </a:prstGeom>
            </p:spPr>
          </p:pic>
          <p:pic>
            <p:nvPicPr>
              <p:cNvPr id="20" name="圖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8791" y="5913564"/>
                <a:ext cx="2193317" cy="448226"/>
              </a:xfrm>
              <a:prstGeom prst="rect">
                <a:avLst/>
              </a:prstGeom>
            </p:spPr>
          </p:pic>
        </p:grpSp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75333" y="2915201"/>
              <a:ext cx="1023395" cy="538317"/>
            </a:xfrm>
            <a:prstGeom prst="rect">
              <a:avLst/>
            </a:prstGeom>
          </p:spPr>
        </p:pic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CodePile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55277" y="2453053"/>
            <a:ext cx="2848708" cy="272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699738" y="2453053"/>
            <a:ext cx="1688124" cy="272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478174" y="2764445"/>
            <a:ext cx="1093959" cy="656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直線圖說文字 1 10"/>
          <p:cNvSpPr/>
          <p:nvPr/>
        </p:nvSpPr>
        <p:spPr>
          <a:xfrm>
            <a:off x="633046" y="1837591"/>
            <a:ext cx="1626577" cy="615461"/>
          </a:xfrm>
          <a:prstGeom prst="borderCallout1">
            <a:avLst>
              <a:gd name="adj1" fmla="val 50145"/>
              <a:gd name="adj2" fmla="val 104507"/>
              <a:gd name="adj3" fmla="val 98480"/>
              <a:gd name="adj4" fmla="val 122433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設定程式碼標</a:t>
            </a:r>
            <a:r>
              <a:rPr lang="zh-TW" altLang="en-US" sz="16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題</a:t>
            </a:r>
          </a:p>
        </p:txBody>
      </p:sp>
      <p:sp>
        <p:nvSpPr>
          <p:cNvPr id="12" name="直線圖說文字 1 11"/>
          <p:cNvSpPr/>
          <p:nvPr/>
        </p:nvSpPr>
        <p:spPr>
          <a:xfrm>
            <a:off x="4960314" y="943125"/>
            <a:ext cx="1626577" cy="615461"/>
          </a:xfrm>
          <a:prstGeom prst="borderCallout1">
            <a:avLst>
              <a:gd name="adj1" fmla="val 104312"/>
              <a:gd name="adj2" fmla="val 53561"/>
              <a:gd name="adj3" fmla="val 241826"/>
              <a:gd name="adj4" fmla="val 107539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選擇程式語言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13" name="直線圖說文字 1 12"/>
          <p:cNvSpPr/>
          <p:nvPr/>
        </p:nvSpPr>
        <p:spPr>
          <a:xfrm>
            <a:off x="10626383" y="953081"/>
            <a:ext cx="1506415" cy="615461"/>
          </a:xfrm>
          <a:prstGeom prst="borderCallout1">
            <a:avLst>
              <a:gd name="adj1" fmla="val 51574"/>
              <a:gd name="adj2" fmla="val -5763"/>
              <a:gd name="adj3" fmla="val 289605"/>
              <a:gd name="adj4" fmla="val -40711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目前</a:t>
            </a:r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共享程式碼的人員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14" name="直線圖說文字 1 13"/>
          <p:cNvSpPr/>
          <p:nvPr/>
        </p:nvSpPr>
        <p:spPr>
          <a:xfrm>
            <a:off x="633046" y="3071445"/>
            <a:ext cx="1626577" cy="615461"/>
          </a:xfrm>
          <a:prstGeom prst="borderCallout1">
            <a:avLst>
              <a:gd name="adj1" fmla="val 50145"/>
              <a:gd name="adj2" fmla="val 104507"/>
              <a:gd name="adj3" fmla="val 94194"/>
              <a:gd name="adj4" fmla="val 130001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撰寫程式碼區域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655277" y="5876192"/>
            <a:ext cx="2250831" cy="348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直線圖說文字 1 15"/>
          <p:cNvSpPr/>
          <p:nvPr/>
        </p:nvSpPr>
        <p:spPr>
          <a:xfrm>
            <a:off x="633045" y="4645269"/>
            <a:ext cx="1855154" cy="615461"/>
          </a:xfrm>
          <a:prstGeom prst="borderCallout1">
            <a:avLst>
              <a:gd name="adj1" fmla="val 50145"/>
              <a:gd name="adj2" fmla="val 104507"/>
              <a:gd name="adj3" fmla="val 197885"/>
              <a:gd name="adj4" fmla="val 133082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取得連結可以共享程式碼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17" name="直線圖說文字 1 16"/>
          <p:cNvSpPr/>
          <p:nvPr/>
        </p:nvSpPr>
        <p:spPr>
          <a:xfrm>
            <a:off x="4960315" y="4645268"/>
            <a:ext cx="1626577" cy="615461"/>
          </a:xfrm>
          <a:prstGeom prst="borderCallout1">
            <a:avLst>
              <a:gd name="adj1" fmla="val 107050"/>
              <a:gd name="adj2" fmla="val 47300"/>
              <a:gd name="adj3" fmla="val 204551"/>
              <a:gd name="adj4" fmla="val 57658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設定程式碼權限</a:t>
            </a:r>
            <a:endParaRPr lang="en-US" altLang="zh-TW" sz="1600" dirty="0" smtClean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唯獨</a:t>
            </a:r>
            <a:r>
              <a:rPr lang="en-US" altLang="zh-TW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/</a:t>
            </a:r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共享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18" name="直線圖說文字 1 17"/>
          <p:cNvSpPr/>
          <p:nvPr/>
        </p:nvSpPr>
        <p:spPr>
          <a:xfrm>
            <a:off x="10626383" y="4645268"/>
            <a:ext cx="1506415" cy="591451"/>
          </a:xfrm>
          <a:prstGeom prst="borderCallout1">
            <a:avLst>
              <a:gd name="adj1" fmla="val 54431"/>
              <a:gd name="adj2" fmla="val -3061"/>
              <a:gd name="adj3" fmla="val 213533"/>
              <a:gd name="adj4" fmla="val -105818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設定還原點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19" name="直線圖說文字 1 18"/>
          <p:cNvSpPr/>
          <p:nvPr/>
        </p:nvSpPr>
        <p:spPr>
          <a:xfrm>
            <a:off x="10626383" y="6030687"/>
            <a:ext cx="1506415" cy="615461"/>
          </a:xfrm>
          <a:prstGeom prst="borderCallout1">
            <a:avLst>
              <a:gd name="adj1" fmla="val 54431"/>
              <a:gd name="adj2" fmla="val -3061"/>
              <a:gd name="adj3" fmla="val 68023"/>
              <a:gd name="adj4" fmla="val -68765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開啟聊天室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22" name="直線圖說文字 1 21"/>
          <p:cNvSpPr/>
          <p:nvPr/>
        </p:nvSpPr>
        <p:spPr>
          <a:xfrm>
            <a:off x="7327705" y="4645268"/>
            <a:ext cx="1626577" cy="591451"/>
          </a:xfrm>
          <a:prstGeom prst="borderCallout1">
            <a:avLst>
              <a:gd name="adj1" fmla="val 103955"/>
              <a:gd name="adj2" fmla="val 53155"/>
              <a:gd name="adj3" fmla="val 207050"/>
              <a:gd name="adj4" fmla="val 45677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設定書籤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23" name="直線圖說文字 1 22"/>
          <p:cNvSpPr/>
          <p:nvPr/>
        </p:nvSpPr>
        <p:spPr>
          <a:xfrm>
            <a:off x="7327705" y="953081"/>
            <a:ext cx="1626577" cy="615461"/>
          </a:xfrm>
          <a:prstGeom prst="borderCallout1">
            <a:avLst>
              <a:gd name="adj1" fmla="val 104312"/>
              <a:gd name="adj2" fmla="val 53561"/>
              <a:gd name="adj3" fmla="val 153316"/>
              <a:gd name="adj4" fmla="val 26205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建立新的程式碼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366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2592925" y="1905000"/>
            <a:ext cx="7987934" cy="4741148"/>
            <a:chOff x="3054801" y="2022229"/>
            <a:chExt cx="7987934" cy="4741148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 rotWithShape="1">
            <a:blip r:embed="rId2"/>
            <a:srcRect l="58310" r="-58310"/>
            <a:stretch/>
          </p:blipFill>
          <p:spPr>
            <a:xfrm>
              <a:off x="3054801" y="2022229"/>
              <a:ext cx="7987934" cy="4741148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7608" y="2915201"/>
              <a:ext cx="1023395" cy="538317"/>
            </a:xfrm>
            <a:prstGeom prst="rect">
              <a:avLst/>
            </a:prstGeom>
          </p:spPr>
        </p:pic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CodePile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直線圖說文字 1 17"/>
          <p:cNvSpPr/>
          <p:nvPr/>
        </p:nvSpPr>
        <p:spPr>
          <a:xfrm>
            <a:off x="5065838" y="4683488"/>
            <a:ext cx="1626577" cy="615461"/>
          </a:xfrm>
          <a:prstGeom prst="borderCallout1">
            <a:avLst>
              <a:gd name="adj1" fmla="val 54431"/>
              <a:gd name="adj2" fmla="val -3061"/>
              <a:gd name="adj3" fmla="val 208599"/>
              <a:gd name="adj4" fmla="val -57387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設定還原點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119" y="1905000"/>
            <a:ext cx="3437740" cy="206405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5"/>
          <a:srcRect l="31161" t="71294" r="59810" b="10812"/>
          <a:stretch/>
        </p:blipFill>
        <p:spPr>
          <a:xfrm>
            <a:off x="7143119" y="4815144"/>
            <a:ext cx="3437740" cy="1916090"/>
          </a:xfrm>
          <a:prstGeom prst="rect">
            <a:avLst/>
          </a:prstGeom>
        </p:spPr>
      </p:pic>
      <p:sp>
        <p:nvSpPr>
          <p:cNvPr id="23" name="向右箭號 22"/>
          <p:cNvSpPr/>
          <p:nvPr/>
        </p:nvSpPr>
        <p:spPr>
          <a:xfrm>
            <a:off x="6077541" y="2684834"/>
            <a:ext cx="867163" cy="38229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向下箭號 23"/>
          <p:cNvSpPr/>
          <p:nvPr/>
        </p:nvSpPr>
        <p:spPr>
          <a:xfrm>
            <a:off x="8657708" y="4092567"/>
            <a:ext cx="408562" cy="599062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363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069" y="1905000"/>
            <a:ext cx="6891543" cy="250191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CodePile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068" y="4852567"/>
            <a:ext cx="6891543" cy="1759157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4"/>
          <a:srcRect l="65428" t="81599" r="11434"/>
          <a:stretch/>
        </p:blipFill>
        <p:spPr>
          <a:xfrm>
            <a:off x="1328754" y="1962539"/>
            <a:ext cx="2528341" cy="119341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344366" y="2120630"/>
            <a:ext cx="826851" cy="496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18271" y="2120630"/>
            <a:ext cx="826851" cy="496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cxnSp>
        <p:nvCxnSpPr>
          <p:cNvPr id="16" name="直線單箭頭接點 15"/>
          <p:cNvCxnSpPr>
            <a:stCxn id="11" idx="3"/>
            <a:endCxn id="5" idx="1"/>
          </p:cNvCxnSpPr>
          <p:nvPr/>
        </p:nvCxnSpPr>
        <p:spPr>
          <a:xfrm>
            <a:off x="3171217" y="2368685"/>
            <a:ext cx="1441852" cy="7872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endCxn id="8" idx="1"/>
          </p:cNvCxnSpPr>
          <p:nvPr/>
        </p:nvCxnSpPr>
        <p:spPr>
          <a:xfrm>
            <a:off x="1831696" y="2616740"/>
            <a:ext cx="2781372" cy="31154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49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58777" r="-58777"/>
          <a:stretch/>
        </p:blipFill>
        <p:spPr>
          <a:xfrm>
            <a:off x="2592925" y="1905000"/>
            <a:ext cx="7987934" cy="474114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CodePile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直線圖說文字 1 18"/>
          <p:cNvSpPr/>
          <p:nvPr/>
        </p:nvSpPr>
        <p:spPr>
          <a:xfrm>
            <a:off x="6086276" y="5784502"/>
            <a:ext cx="1383323" cy="615461"/>
          </a:xfrm>
          <a:prstGeom prst="borderCallout1">
            <a:avLst>
              <a:gd name="adj1" fmla="val 54431"/>
              <a:gd name="adj2" fmla="val -3061"/>
              <a:gd name="adj3" fmla="val 107051"/>
              <a:gd name="adj4" fmla="val -87411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開啟聊天室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351" y="1905000"/>
            <a:ext cx="1768563" cy="4741148"/>
          </a:xfrm>
          <a:prstGeom prst="rect">
            <a:avLst/>
          </a:prstGeom>
        </p:spPr>
      </p:pic>
      <p:sp>
        <p:nvSpPr>
          <p:cNvPr id="25" name="向右箭號 24"/>
          <p:cNvSpPr/>
          <p:nvPr/>
        </p:nvSpPr>
        <p:spPr>
          <a:xfrm>
            <a:off x="6086276" y="3390691"/>
            <a:ext cx="2046609" cy="90812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6" name="圖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548" y="2788244"/>
            <a:ext cx="1023395" cy="5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1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85946"/>
          </a:xfrm>
        </p:spPr>
        <p:txBody>
          <a:bodyPr>
            <a:normAutofit/>
          </a:bodyPr>
          <a:lstStyle/>
          <a:p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支援</a:t>
            </a:r>
            <a:r>
              <a:rPr lang="zh-TW" altLang="en-US" sz="20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多人</a:t>
            </a:r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協作</a:t>
            </a:r>
            <a:endParaRPr lang="en-US" altLang="zh-TW" sz="2000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支援版本控制</a:t>
            </a:r>
            <a:endParaRPr lang="en-US" altLang="zh-TW" sz="2000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發起主題討論</a:t>
            </a:r>
            <a:endParaRPr lang="en-US" altLang="zh-TW" sz="2000" dirty="0" smtClean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860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85946"/>
          </a:xfrm>
        </p:spPr>
        <p:txBody>
          <a:bodyPr/>
          <a:lstStyle/>
          <a:p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921588"/>
            <a:ext cx="5969594" cy="4769358"/>
          </a:xfrm>
          <a:prstGeom prst="rect">
            <a:avLst/>
          </a:prstGeom>
        </p:spPr>
      </p:pic>
      <p:sp>
        <p:nvSpPr>
          <p:cNvPr id="6" name="直線圖說文字 1 5"/>
          <p:cNvSpPr/>
          <p:nvPr/>
        </p:nvSpPr>
        <p:spPr>
          <a:xfrm>
            <a:off x="5299892" y="5821078"/>
            <a:ext cx="1576396" cy="615461"/>
          </a:xfrm>
          <a:prstGeom prst="borderCallout1">
            <a:avLst>
              <a:gd name="adj1" fmla="val 54431"/>
              <a:gd name="adj2" fmla="val -3061"/>
              <a:gd name="adj3" fmla="val 107051"/>
              <a:gd name="adj4" fmla="val -87411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建立新的專</a:t>
            </a:r>
            <a:r>
              <a:rPr lang="zh-TW" altLang="en-US" sz="1600" dirty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案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274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85946"/>
          </a:xfrm>
        </p:spPr>
        <p:txBody>
          <a:bodyPr/>
          <a:lstStyle/>
          <a:p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905000"/>
            <a:ext cx="8016660" cy="478594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799832" y="2340864"/>
            <a:ext cx="630936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91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 (collaborators)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85946"/>
          </a:xfrm>
        </p:spPr>
        <p:txBody>
          <a:bodyPr/>
          <a:lstStyle/>
          <a:p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905000"/>
            <a:ext cx="9243124" cy="387027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89212" y="3291497"/>
            <a:ext cx="2183956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4954460" y="4742344"/>
            <a:ext cx="6550152" cy="3965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直線圖說文字 1 7"/>
          <p:cNvSpPr/>
          <p:nvPr/>
        </p:nvSpPr>
        <p:spPr>
          <a:xfrm>
            <a:off x="676656" y="2373790"/>
            <a:ext cx="1827751" cy="615461"/>
          </a:xfrm>
          <a:prstGeom prst="borderCallout1">
            <a:avLst>
              <a:gd name="adj1" fmla="val 104945"/>
              <a:gd name="adj2" fmla="val 48498"/>
              <a:gd name="adj3" fmla="val 170937"/>
              <a:gd name="adj4" fmla="val 102586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新增共享專案人員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744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(collaborators)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85946"/>
          </a:xfrm>
        </p:spPr>
        <p:txBody>
          <a:bodyPr/>
          <a:lstStyle/>
          <a:p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3" y="1905000"/>
            <a:ext cx="9169971" cy="390018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344092" y="4297973"/>
            <a:ext cx="2961196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直線圖說文字 1 6"/>
          <p:cNvSpPr/>
          <p:nvPr/>
        </p:nvSpPr>
        <p:spPr>
          <a:xfrm>
            <a:off x="5568696" y="3331072"/>
            <a:ext cx="1563624" cy="615461"/>
          </a:xfrm>
          <a:prstGeom prst="borderCallout1">
            <a:avLst>
              <a:gd name="adj1" fmla="val 104945"/>
              <a:gd name="adj2" fmla="val 48498"/>
              <a:gd name="adj3" fmla="val 179851"/>
              <a:gd name="adj4" fmla="val 110188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邀請連結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446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(collaborators)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85946"/>
          </a:xfrm>
        </p:spPr>
        <p:txBody>
          <a:bodyPr/>
          <a:lstStyle/>
          <a:p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3" y="1914145"/>
            <a:ext cx="8915399" cy="35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8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85946"/>
          </a:xfrm>
        </p:spPr>
        <p:txBody>
          <a:bodyPr/>
          <a:lstStyle/>
          <a:p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905000"/>
            <a:ext cx="8323180" cy="477050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14600" y="3666744"/>
            <a:ext cx="1097280" cy="3566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直線圖說文字 1 6"/>
          <p:cNvSpPr/>
          <p:nvPr/>
        </p:nvSpPr>
        <p:spPr>
          <a:xfrm>
            <a:off x="758952" y="2700136"/>
            <a:ext cx="1563624" cy="615461"/>
          </a:xfrm>
          <a:prstGeom prst="borderCallout1">
            <a:avLst>
              <a:gd name="adj1" fmla="val 104945"/>
              <a:gd name="adj2" fmla="val 48498"/>
              <a:gd name="adj3" fmla="val 179851"/>
              <a:gd name="adj4" fmla="val 110188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建立分支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388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85946"/>
          </a:xfrm>
        </p:spPr>
        <p:txBody>
          <a:bodyPr/>
          <a:lstStyle/>
          <a:p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3" y="1905000"/>
            <a:ext cx="8054404" cy="448169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310128" y="2304288"/>
            <a:ext cx="923544" cy="411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直線圖說文字 1 8"/>
          <p:cNvSpPr/>
          <p:nvPr/>
        </p:nvSpPr>
        <p:spPr>
          <a:xfrm>
            <a:off x="768828" y="2660904"/>
            <a:ext cx="1563624" cy="615461"/>
          </a:xfrm>
          <a:prstGeom prst="borderCallout1">
            <a:avLst>
              <a:gd name="adj1" fmla="val 38088"/>
              <a:gd name="adj2" fmla="val 104638"/>
              <a:gd name="adj3" fmla="val -20720"/>
              <a:gd name="adj4" fmla="val 159896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建立討論議題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232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785946"/>
          </a:xfrm>
        </p:spPr>
        <p:txBody>
          <a:bodyPr/>
          <a:lstStyle/>
          <a:p>
            <a:endParaRPr lang="zh-TW" altLang="en-US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1905000"/>
            <a:ext cx="6902260" cy="486564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449056" y="3611880"/>
            <a:ext cx="1042416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直線圖說文字 1 6"/>
          <p:cNvSpPr/>
          <p:nvPr/>
        </p:nvSpPr>
        <p:spPr>
          <a:xfrm>
            <a:off x="9940988" y="3099816"/>
            <a:ext cx="1563624" cy="615461"/>
          </a:xfrm>
          <a:prstGeom prst="borderCallout1">
            <a:avLst>
              <a:gd name="adj1" fmla="val 112374"/>
              <a:gd name="adj2" fmla="val -26356"/>
              <a:gd name="adj3" fmla="val 41680"/>
              <a:gd name="adj4" fmla="val -3847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提出合併專案的請求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052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905000"/>
            <a:ext cx="7152722" cy="475170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89212" y="5971032"/>
            <a:ext cx="2997772" cy="256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589212" y="2423160"/>
            <a:ext cx="1946212" cy="3474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直線圖說文字 1 7"/>
          <p:cNvSpPr/>
          <p:nvPr/>
        </p:nvSpPr>
        <p:spPr>
          <a:xfrm>
            <a:off x="632396" y="2164315"/>
            <a:ext cx="1563624" cy="606317"/>
          </a:xfrm>
          <a:prstGeom prst="borderCallout1">
            <a:avLst>
              <a:gd name="adj1" fmla="val 71655"/>
              <a:gd name="adj2" fmla="val 125691"/>
              <a:gd name="adj3" fmla="val 46204"/>
              <a:gd name="adj4" fmla="val 102001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合併專案版本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9" name="直線圖說文字 1 8"/>
          <p:cNvSpPr/>
          <p:nvPr/>
        </p:nvSpPr>
        <p:spPr>
          <a:xfrm>
            <a:off x="632396" y="5492731"/>
            <a:ext cx="1563624" cy="606317"/>
          </a:xfrm>
          <a:prstGeom prst="borderCallout1">
            <a:avLst>
              <a:gd name="adj1" fmla="val 71655"/>
              <a:gd name="adj2" fmla="val 125691"/>
              <a:gd name="adj3" fmla="val 46204"/>
              <a:gd name="adj4" fmla="val 102001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比較版本差異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534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77" y="1905000"/>
            <a:ext cx="7726236" cy="466039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141464" y="5541264"/>
            <a:ext cx="1234440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直線圖說文字 1 5"/>
          <p:cNvSpPr/>
          <p:nvPr/>
        </p:nvSpPr>
        <p:spPr>
          <a:xfrm>
            <a:off x="9182036" y="4962379"/>
            <a:ext cx="1900492" cy="606317"/>
          </a:xfrm>
          <a:prstGeom prst="borderCallout1">
            <a:avLst>
              <a:gd name="adj1" fmla="val 118407"/>
              <a:gd name="adj2" fmla="val -49748"/>
              <a:gd name="adj3" fmla="val 52237"/>
              <a:gd name="adj4" fmla="val -2093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發送合併專案請求給共同開發人員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170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5" y="1905000"/>
            <a:ext cx="7428899" cy="47921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005072" y="1905000"/>
            <a:ext cx="1179576" cy="426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160776" y="5669280"/>
            <a:ext cx="3121152" cy="426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直線圖說文字 1 8"/>
          <p:cNvSpPr/>
          <p:nvPr/>
        </p:nvSpPr>
        <p:spPr>
          <a:xfrm>
            <a:off x="7289228" y="5190979"/>
            <a:ext cx="1900492" cy="606317"/>
          </a:xfrm>
          <a:prstGeom prst="borderCallout1">
            <a:avLst>
              <a:gd name="adj1" fmla="val 118407"/>
              <a:gd name="adj2" fmla="val -49748"/>
              <a:gd name="adj3" fmla="val 52237"/>
              <a:gd name="adj4" fmla="val -2093"/>
            </a:avLst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如果</a:t>
            </a:r>
            <a:r>
              <a:rPr lang="en-US" altLang="zh-TW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branch</a:t>
            </a:r>
            <a:r>
              <a:rPr lang="zh-TW" altLang="en-US" sz="1600" dirty="0" smtClean="0">
                <a:solidFill>
                  <a:schemeClr val="tx1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沒有衝突會自動合併</a:t>
            </a:r>
            <a:endParaRPr lang="zh-TW" altLang="en-US" sz="1600" dirty="0">
              <a:solidFill>
                <a:schemeClr val="tx1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60776" y="6183200"/>
            <a:ext cx="1429512" cy="426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20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4681</TotalTime>
  <Words>232</Words>
  <Application>Microsoft Office PowerPoint</Application>
  <PresentationFormat>寬螢幕</PresentationFormat>
  <Paragraphs>57</Paragraphs>
  <Slides>18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6" baseType="lpstr">
      <vt:lpstr>微軟正黑體</vt:lpstr>
      <vt:lpstr>新細明體</vt:lpstr>
      <vt:lpstr>Arial</vt:lpstr>
      <vt:lpstr>Calibri</vt:lpstr>
      <vt:lpstr>Century Gothic</vt:lpstr>
      <vt:lpstr>Times New Roman</vt:lpstr>
      <vt:lpstr>Wingdings 3</vt:lpstr>
      <vt:lpstr>絲縷</vt:lpstr>
      <vt:lpstr>程式碼共享管理</vt:lpstr>
      <vt:lpstr>CodePile</vt:lpstr>
      <vt:lpstr>CodePile</vt:lpstr>
      <vt:lpstr>CodePile</vt:lpstr>
      <vt:lpstr>CodePile</vt:lpstr>
      <vt:lpstr>CodePile</vt:lpstr>
      <vt:lpstr>GitHub</vt:lpstr>
      <vt:lpstr>GitHub</vt:lpstr>
      <vt:lpstr>GitHub</vt:lpstr>
      <vt:lpstr>GitHub (collaborators)</vt:lpstr>
      <vt:lpstr>GitHub (collaborators)</vt:lpstr>
      <vt:lpstr>GitHub (collaborators)</vt:lpstr>
      <vt:lpstr>GitHub</vt:lpstr>
      <vt:lpstr>GitHub</vt:lpstr>
      <vt:lpstr>GitHub</vt:lpstr>
      <vt:lpstr>GitHub</vt:lpstr>
      <vt:lpstr>GitHub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程式碼共享管理</dc:title>
  <dc:creator>吳承憲</dc:creator>
  <cp:lastModifiedBy>吳承憲</cp:lastModifiedBy>
  <cp:revision>28</cp:revision>
  <dcterms:created xsi:type="dcterms:W3CDTF">2018-04-12T06:08:07Z</dcterms:created>
  <dcterms:modified xsi:type="dcterms:W3CDTF">2018-04-16T16:30:15Z</dcterms:modified>
</cp:coreProperties>
</file>